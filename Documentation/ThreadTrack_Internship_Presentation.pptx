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25"/>
  </p:notesMasterIdLst>
  <p:sldIdLst>
    <p:sldId id="256" r:id="rId2"/>
    <p:sldId id="257" r:id="rId3"/>
    <p:sldId id="258" r:id="rId4"/>
    <p:sldId id="271" r:id="rId5"/>
    <p:sldId id="259" r:id="rId6"/>
    <p:sldId id="260" r:id="rId7"/>
    <p:sldId id="261" r:id="rId8"/>
    <p:sldId id="262" r:id="rId9"/>
    <p:sldId id="263" r:id="rId10"/>
    <p:sldId id="302" r:id="rId11"/>
    <p:sldId id="264" r:id="rId12"/>
    <p:sldId id="303" r:id="rId13"/>
    <p:sldId id="265" r:id="rId14"/>
    <p:sldId id="304" r:id="rId15"/>
    <p:sldId id="266" r:id="rId16"/>
    <p:sldId id="305" r:id="rId17"/>
    <p:sldId id="267" r:id="rId18"/>
    <p:sldId id="307" r:id="rId19"/>
    <p:sldId id="268" r:id="rId20"/>
    <p:sldId id="306" r:id="rId21"/>
    <p:sldId id="269" r:id="rId22"/>
    <p:sldId id="270" r:id="rId23"/>
    <p:sldId id="301" r:id="rId24"/>
  </p:sldIdLst>
  <p:sldSz cx="9144000" cy="5143500" type="screen16x9"/>
  <p:notesSz cx="6858000" cy="9144000"/>
  <p:embeddedFontLst>
    <p:embeddedFont>
      <p:font typeface="Book Antiqua" panose="02040602050305030304" pitchFamily="18"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 name="Google Shape;3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20448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a:extLst>
            <a:ext uri="{FF2B5EF4-FFF2-40B4-BE49-F238E27FC236}">
              <a16:creationId xmlns:a16="http://schemas.microsoft.com/office/drawing/2014/main" id="{47D3334B-1318-1A30-80E9-417FDA710D2D}"/>
            </a:ext>
          </a:extLst>
        </p:cNvPr>
        <p:cNvGrpSpPr/>
        <p:nvPr/>
      </p:nvGrpSpPr>
      <p:grpSpPr>
        <a:xfrm>
          <a:off x="0" y="0"/>
          <a:ext cx="0" cy="0"/>
          <a:chOff x="0" y="0"/>
          <a:chExt cx="0" cy="0"/>
        </a:xfrm>
      </p:grpSpPr>
      <p:sp>
        <p:nvSpPr>
          <p:cNvPr id="33" name="Google Shape;33;p2:notes">
            <a:extLst>
              <a:ext uri="{FF2B5EF4-FFF2-40B4-BE49-F238E27FC236}">
                <a16:creationId xmlns:a16="http://schemas.microsoft.com/office/drawing/2014/main" id="{3D9B0EB6-E960-3736-C7B2-5D34D44C2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 name="Google Shape;34;p2:notes">
            <a:extLst>
              <a:ext uri="{FF2B5EF4-FFF2-40B4-BE49-F238E27FC236}">
                <a16:creationId xmlns:a16="http://schemas.microsoft.com/office/drawing/2014/main" id="{5218A923-4187-5B95-5C3F-91E603B4FB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47455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03974" y="140225"/>
            <a:ext cx="7031975" cy="5727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800"/>
              <a:buNone/>
              <a:defRPr sz="2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5" name="Google Shape;15;p3"/>
          <p:cNvSpPr txBox="1">
            <a:spLocks noGrp="1"/>
          </p:cNvSpPr>
          <p:nvPr>
            <p:ph type="body" idx="1"/>
          </p:nvPr>
        </p:nvSpPr>
        <p:spPr>
          <a:xfrm>
            <a:off x="311700" y="9238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sz="1400">
                <a:solidFill>
                  <a:schemeClr val="tx1"/>
                </a:solidFill>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7" name="Google Shape;17;p3"/>
          <p:cNvPicPr preferRelativeResize="0"/>
          <p:nvPr/>
        </p:nvPicPr>
        <p:blipFill rotWithShape="1">
          <a:blip r:embed="rId2">
            <a:alphaModFix/>
          </a:blip>
          <a:srcRect/>
          <a:stretch/>
        </p:blipFill>
        <p:spPr>
          <a:xfrm>
            <a:off x="29500" y="-19300"/>
            <a:ext cx="961400" cy="922550"/>
          </a:xfrm>
          <a:prstGeom prst="rect">
            <a:avLst/>
          </a:prstGeom>
          <a:noFill/>
          <a:ln>
            <a:noFill/>
          </a:ln>
        </p:spPr>
      </p:pic>
      <p:pic>
        <p:nvPicPr>
          <p:cNvPr id="18" name="Google Shape;18;p3"/>
          <p:cNvPicPr preferRelativeResize="0"/>
          <p:nvPr/>
        </p:nvPicPr>
        <p:blipFill rotWithShape="1">
          <a:blip r:embed="rId2">
            <a:alphaModFix/>
          </a:blip>
          <a:srcRect/>
          <a:stretch/>
        </p:blipFill>
        <p:spPr>
          <a:xfrm>
            <a:off x="8135950" y="0"/>
            <a:ext cx="961400" cy="9225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rgbClr val="0000FF"/>
              </a:buClr>
              <a:buSzPts val="2800"/>
              <a:buFont typeface="Arial"/>
              <a:buNone/>
              <a:defRPr sz="2800" b="0" i="0" u="none" strike="noStrike" cap="none">
                <a:solidFill>
                  <a:srgbClr val="0000FF"/>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iisdigital.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736900" y="243875"/>
            <a:ext cx="7688100" cy="1664700"/>
          </a:xfrm>
          <a:prstGeom prst="rect">
            <a:avLst/>
          </a:prstGeom>
          <a:noFill/>
          <a:ln>
            <a:noFill/>
          </a:ln>
        </p:spPr>
        <p:txBody>
          <a:bodyPr spcFirstLastPara="1" wrap="square" lIns="91425" tIns="91425" rIns="91425" bIns="91425" anchor="t" anchorCtr="0">
            <a:normAutofit/>
          </a:bodyPr>
          <a:lstStyle/>
          <a:p>
            <a:pPr marL="0" marR="0" lvl="0" indent="0" algn="ctr" rtl="0">
              <a:lnSpc>
                <a:spcPct val="150000"/>
              </a:lnSpc>
              <a:spcBef>
                <a:spcPts val="0"/>
              </a:spcBef>
              <a:spcAft>
                <a:spcPts val="0"/>
              </a:spcAft>
              <a:buSzPts val="4200"/>
              <a:buNone/>
            </a:pPr>
            <a:r>
              <a:rPr lang="en" sz="1711">
                <a:solidFill>
                  <a:srgbClr val="FF0000"/>
                </a:solidFill>
                <a:latin typeface="Book Antiqua"/>
                <a:ea typeface="Book Antiqua"/>
                <a:cs typeface="Book Antiqua"/>
                <a:sym typeface="Book Antiqua"/>
              </a:rPr>
              <a:t>Navyug Vidyabhavan Trust</a:t>
            </a:r>
            <a:endParaRPr sz="1711">
              <a:solidFill>
                <a:srgbClr val="FF0000"/>
              </a:solidFill>
              <a:latin typeface="Book Antiqua"/>
              <a:ea typeface="Book Antiqua"/>
              <a:cs typeface="Book Antiqua"/>
              <a:sym typeface="Book Antiqua"/>
            </a:endParaRPr>
          </a:p>
          <a:p>
            <a:pPr marL="0" marR="0" lvl="0" indent="0" algn="ctr" rtl="0">
              <a:lnSpc>
                <a:spcPct val="150000"/>
              </a:lnSpc>
              <a:spcBef>
                <a:spcPts val="0"/>
              </a:spcBef>
              <a:spcAft>
                <a:spcPts val="0"/>
              </a:spcAft>
              <a:buClr>
                <a:schemeClr val="dk1"/>
              </a:buClr>
              <a:buSzPts val="1100"/>
              <a:buFont typeface="Arial"/>
              <a:buNone/>
            </a:pPr>
            <a:r>
              <a:rPr lang="en" sz="2633">
                <a:solidFill>
                  <a:srgbClr val="0000FF"/>
                </a:solidFill>
                <a:latin typeface="Book Antiqua"/>
                <a:ea typeface="Book Antiqua"/>
                <a:cs typeface="Book Antiqua"/>
                <a:sym typeface="Book Antiqua"/>
              </a:rPr>
              <a:t>C. K. Pithawala College of Engg. &amp; Tech.</a:t>
            </a:r>
            <a:endParaRPr sz="2633">
              <a:solidFill>
                <a:srgbClr val="0000FF"/>
              </a:solidFill>
              <a:latin typeface="Book Antiqua"/>
              <a:ea typeface="Book Antiqua"/>
              <a:cs typeface="Book Antiqua"/>
              <a:sym typeface="Book Antiqua"/>
            </a:endParaRPr>
          </a:p>
        </p:txBody>
      </p:sp>
      <p:sp>
        <p:nvSpPr>
          <p:cNvPr id="24" name="Google Shape;24;p4"/>
          <p:cNvSpPr txBox="1">
            <a:spLocks noGrp="1"/>
          </p:cNvSpPr>
          <p:nvPr>
            <p:ph type="subTitle" idx="1"/>
          </p:nvPr>
        </p:nvSpPr>
        <p:spPr>
          <a:xfrm>
            <a:off x="729627" y="1151475"/>
            <a:ext cx="7688100" cy="541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600"/>
              <a:buNone/>
            </a:pPr>
            <a:r>
              <a:rPr lang="en" sz="1900" dirty="0">
                <a:solidFill>
                  <a:srgbClr val="990000"/>
                </a:solidFill>
              </a:rPr>
              <a:t>Information Technology Engineering Department</a:t>
            </a:r>
            <a:endParaRPr dirty="0">
              <a:solidFill>
                <a:srgbClr val="990000"/>
              </a:solidFill>
            </a:endParaRPr>
          </a:p>
        </p:txBody>
      </p:sp>
      <p:pic>
        <p:nvPicPr>
          <p:cNvPr id="25" name="Google Shape;25;p4"/>
          <p:cNvPicPr preferRelativeResize="0"/>
          <p:nvPr/>
        </p:nvPicPr>
        <p:blipFill rotWithShape="1">
          <a:blip r:embed="rId3">
            <a:alphaModFix/>
          </a:blip>
          <a:srcRect/>
          <a:stretch/>
        </p:blipFill>
        <p:spPr>
          <a:xfrm>
            <a:off x="410500" y="209300"/>
            <a:ext cx="1128875" cy="1083264"/>
          </a:xfrm>
          <a:prstGeom prst="rect">
            <a:avLst/>
          </a:prstGeom>
          <a:noFill/>
          <a:ln>
            <a:noFill/>
          </a:ln>
        </p:spPr>
      </p:pic>
      <p:pic>
        <p:nvPicPr>
          <p:cNvPr id="26" name="Google Shape;26;p4"/>
          <p:cNvPicPr preferRelativeResize="0"/>
          <p:nvPr/>
        </p:nvPicPr>
        <p:blipFill rotWithShape="1">
          <a:blip r:embed="rId4">
            <a:alphaModFix/>
          </a:blip>
          <a:srcRect/>
          <a:stretch/>
        </p:blipFill>
        <p:spPr>
          <a:xfrm>
            <a:off x="7724500" y="243875"/>
            <a:ext cx="1026850" cy="1014100"/>
          </a:xfrm>
          <a:prstGeom prst="rect">
            <a:avLst/>
          </a:prstGeom>
          <a:noFill/>
          <a:ln>
            <a:noFill/>
          </a:ln>
        </p:spPr>
      </p:pic>
      <p:sp>
        <p:nvSpPr>
          <p:cNvPr id="27" name="Google Shape;27;p4"/>
          <p:cNvSpPr txBox="1"/>
          <p:nvPr/>
        </p:nvSpPr>
        <p:spPr>
          <a:xfrm>
            <a:off x="3207750" y="3760850"/>
            <a:ext cx="27285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dirty="0">
                <a:solidFill>
                  <a:srgbClr val="000000"/>
                </a:solidFill>
                <a:latin typeface="Book Antiqua"/>
                <a:ea typeface="Book Antiqua"/>
                <a:cs typeface="Book Antiqua"/>
                <a:sym typeface="Book Antiqua"/>
              </a:rPr>
              <a:t>Presented By</a:t>
            </a:r>
            <a:endParaRPr sz="1600" b="1" i="0" u="none" strike="noStrike" cap="none" dirty="0">
              <a:solidFill>
                <a:srgbClr val="000000"/>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Book Antiqua"/>
                <a:ea typeface="Book Antiqua"/>
                <a:cs typeface="Book Antiqua"/>
                <a:sym typeface="Book Antiqua"/>
              </a:rPr>
              <a:t>Bhavya Dani</a:t>
            </a:r>
            <a:endParaRPr sz="1600" b="0" i="0" u="none" strike="noStrike" cap="none" dirty="0">
              <a:solidFill>
                <a:srgbClr val="000000"/>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600"/>
              <a:buFont typeface="Arial"/>
              <a:buNone/>
            </a:pPr>
            <a:r>
              <a:rPr lang="en" sz="1600" dirty="0">
                <a:latin typeface="Book Antiqua"/>
                <a:ea typeface="Book Antiqua"/>
                <a:cs typeface="Book Antiqua"/>
                <a:sym typeface="Book Antiqua"/>
              </a:rPr>
              <a:t>220090116010</a:t>
            </a:r>
            <a:endParaRPr sz="1600" b="0" i="0" u="none" strike="noStrike" cap="none" dirty="0">
              <a:solidFill>
                <a:srgbClr val="000000"/>
              </a:solidFill>
              <a:latin typeface="Book Antiqua"/>
              <a:ea typeface="Book Antiqua"/>
              <a:cs typeface="Book Antiqua"/>
              <a:sym typeface="Book Antiqua"/>
            </a:endParaRPr>
          </a:p>
        </p:txBody>
      </p:sp>
      <p:sp>
        <p:nvSpPr>
          <p:cNvPr id="28" name="Google Shape;28;p4"/>
          <p:cNvSpPr txBox="1"/>
          <p:nvPr/>
        </p:nvSpPr>
        <p:spPr>
          <a:xfrm>
            <a:off x="410500" y="2032891"/>
            <a:ext cx="8340900" cy="680156"/>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2800"/>
              <a:buFont typeface="Arial"/>
              <a:buNone/>
            </a:pPr>
            <a:r>
              <a:rPr lang="en-US" sz="2800" b="1" i="0" u="none" strike="noStrike" cap="none" dirty="0">
                <a:solidFill>
                  <a:srgbClr val="3C78D8"/>
                </a:solidFill>
                <a:latin typeface="Book Antiqua"/>
                <a:ea typeface="Book Antiqua"/>
                <a:cs typeface="Book Antiqua"/>
                <a:sym typeface="Book Antiqua"/>
              </a:rPr>
              <a:t>Thread Track: Smart Factory Management</a:t>
            </a:r>
            <a:endParaRPr sz="1400" b="1" i="0" u="none" strike="noStrike" cap="none" dirty="0">
              <a:solidFill>
                <a:srgbClr val="3C78D8"/>
              </a:solidFill>
              <a:latin typeface="Book Antiqua"/>
              <a:ea typeface="Book Antiqua"/>
              <a:cs typeface="Book Antiqua"/>
              <a:sym typeface="Book Antiqua"/>
            </a:endParaRPr>
          </a:p>
        </p:txBody>
      </p:sp>
      <p:sp>
        <p:nvSpPr>
          <p:cNvPr id="29" name="Google Shape;29;p4"/>
          <p:cNvSpPr txBox="1"/>
          <p:nvPr/>
        </p:nvSpPr>
        <p:spPr>
          <a:xfrm>
            <a:off x="6103800" y="3760850"/>
            <a:ext cx="27285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dirty="0">
                <a:solidFill>
                  <a:srgbClr val="000000"/>
                </a:solidFill>
                <a:latin typeface="Book Antiqua"/>
                <a:ea typeface="Book Antiqua"/>
                <a:cs typeface="Book Antiqua"/>
                <a:sym typeface="Book Antiqua"/>
              </a:rPr>
              <a:t>Faculty Guide</a:t>
            </a:r>
            <a:endParaRPr sz="1600" b="1" i="0" u="none" strike="noStrike" cap="none" dirty="0">
              <a:solidFill>
                <a:srgbClr val="000000"/>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Book Antiqua"/>
                <a:ea typeface="Book Antiqua"/>
                <a:cs typeface="Book Antiqua"/>
                <a:sym typeface="Book Antiqua"/>
              </a:rPr>
              <a:t>Prof. Priyanka </a:t>
            </a:r>
            <a:r>
              <a:rPr lang="en-US" sz="1600" b="0" i="0" u="none" strike="noStrike" cap="none" dirty="0" err="1">
                <a:solidFill>
                  <a:srgbClr val="000000"/>
                </a:solidFill>
                <a:latin typeface="Book Antiqua"/>
                <a:ea typeface="Book Antiqua"/>
                <a:cs typeface="Book Antiqua"/>
                <a:sym typeface="Book Antiqua"/>
              </a:rPr>
              <a:t>Afini</a:t>
            </a:r>
            <a:endParaRPr sz="1600" b="0" i="0" u="none" strike="noStrike" cap="none" dirty="0">
              <a:solidFill>
                <a:srgbClr val="000000"/>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600"/>
              <a:buFont typeface="Arial"/>
              <a:buNone/>
            </a:pPr>
            <a:r>
              <a:rPr lang="en" sz="1600" dirty="0">
                <a:latin typeface="Book Antiqua"/>
                <a:ea typeface="Book Antiqua"/>
                <a:cs typeface="Book Antiqua"/>
                <a:sym typeface="Book Antiqua"/>
              </a:rPr>
              <a:t>Professor</a:t>
            </a:r>
            <a:endParaRPr sz="1600" b="0" i="0" u="none" strike="noStrike" cap="none" dirty="0">
              <a:solidFill>
                <a:srgbClr val="000000"/>
              </a:solidFill>
              <a:latin typeface="Book Antiqua"/>
              <a:ea typeface="Book Antiqua"/>
              <a:cs typeface="Book Antiqua"/>
              <a:sym typeface="Book Antiqua"/>
            </a:endParaRPr>
          </a:p>
        </p:txBody>
      </p:sp>
      <p:sp>
        <p:nvSpPr>
          <p:cNvPr id="30" name="Google Shape;30;p4"/>
          <p:cNvSpPr txBox="1"/>
          <p:nvPr/>
        </p:nvSpPr>
        <p:spPr>
          <a:xfrm>
            <a:off x="410500" y="3760850"/>
            <a:ext cx="27285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Book Antiqua"/>
                <a:ea typeface="Book Antiqua"/>
                <a:cs typeface="Book Antiqua"/>
                <a:sym typeface="Book Antiqua"/>
              </a:rPr>
              <a:t>Internship / Project </a:t>
            </a:r>
            <a:endParaRPr sz="1600" b="1" i="0" u="none" strike="noStrike" cap="none">
              <a:solidFill>
                <a:srgbClr val="000000"/>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Book Antiqua"/>
                <a:ea typeface="Book Antiqua"/>
                <a:cs typeface="Book Antiqua"/>
                <a:sym typeface="Book Antiqua"/>
              </a:rPr>
              <a:t>(</a:t>
            </a:r>
            <a:r>
              <a:rPr lang="en" sz="1600">
                <a:latin typeface="Book Antiqua"/>
                <a:ea typeface="Book Antiqua"/>
                <a:cs typeface="Book Antiqua"/>
                <a:sym typeface="Book Antiqua"/>
              </a:rPr>
              <a:t>3181601</a:t>
            </a:r>
            <a:r>
              <a:rPr lang="en" sz="1600" b="0" i="0" u="none" strike="noStrike" cap="none">
                <a:solidFill>
                  <a:srgbClr val="000000"/>
                </a:solidFill>
                <a:latin typeface="Book Antiqua"/>
                <a:ea typeface="Book Antiqua"/>
                <a:cs typeface="Book Antiqua"/>
                <a:sym typeface="Book Antiqua"/>
              </a:rPr>
              <a:t>)</a:t>
            </a:r>
            <a:endParaRPr sz="1600" b="0" i="0" u="none" strike="noStrike" cap="none">
              <a:solidFill>
                <a:srgbClr val="000000"/>
              </a:solidFill>
              <a:latin typeface="Book Antiqua"/>
              <a:ea typeface="Book Antiqua"/>
              <a:cs typeface="Book Antiqua"/>
              <a:sym typeface="Book Antiqua"/>
            </a:endParaRPr>
          </a:p>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Book Antiqua"/>
                <a:ea typeface="Book Antiqua"/>
                <a:cs typeface="Book Antiqua"/>
                <a:sym typeface="Book Antiqua"/>
              </a:rPr>
              <a:t>BE IV, Sem VIII</a:t>
            </a:r>
            <a:endParaRPr sz="1600" b="0" i="0" u="none" strike="noStrike" cap="none">
              <a:solidFill>
                <a:srgbClr val="000000"/>
              </a:solidFill>
              <a:latin typeface="Book Antiqua"/>
              <a:ea typeface="Book Antiqua"/>
              <a:cs typeface="Book Antiqua"/>
              <a:sym typeface="Book Antiqua"/>
            </a:endParaRPr>
          </a:p>
        </p:txBody>
      </p:sp>
      <p:sp>
        <p:nvSpPr>
          <p:cNvPr id="31" name="Google Shape;31;p4"/>
          <p:cNvSpPr txBox="1">
            <a:spLocks noGrp="1"/>
          </p:cNvSpPr>
          <p:nvPr>
            <p:ph type="subTitle" idx="1"/>
          </p:nvPr>
        </p:nvSpPr>
        <p:spPr>
          <a:xfrm>
            <a:off x="230750" y="2805848"/>
            <a:ext cx="8520600" cy="431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600"/>
              <a:buNone/>
            </a:pPr>
            <a:r>
              <a:rPr lang="en" sz="1900" dirty="0">
                <a:solidFill>
                  <a:schemeClr val="dk1"/>
                </a:solidFill>
              </a:rPr>
              <a:t>Winter Internship Presentation[2025-26]</a:t>
            </a:r>
            <a:endParaRPr sz="1900" dirty="0">
              <a:solidFill>
                <a:schemeClr val="dk1"/>
              </a:solidFill>
            </a:endParaRPr>
          </a:p>
          <a:p>
            <a:pPr marL="0" lvl="0" indent="0" algn="ctr" rtl="0">
              <a:lnSpc>
                <a:spcPct val="115000"/>
              </a:lnSpc>
              <a:spcBef>
                <a:spcPts val="0"/>
              </a:spcBef>
              <a:spcAft>
                <a:spcPts val="0"/>
              </a:spcAft>
              <a:buSzPts val="1600"/>
              <a:buNone/>
            </a:pPr>
            <a:r>
              <a:rPr lang="en" sz="1900" dirty="0">
                <a:solidFill>
                  <a:schemeClr val="dk1"/>
                </a:solidFill>
              </a:rPr>
              <a:t>Date of Internship: 1 Jan to 30 April</a:t>
            </a:r>
            <a:endParaRPr sz="1900" dirty="0">
              <a:solidFill>
                <a:schemeClr val="dk1"/>
              </a:solidFill>
            </a:endParaRPr>
          </a:p>
          <a:p>
            <a:pPr marL="0" lvl="0" indent="0" algn="ctr" rtl="0">
              <a:lnSpc>
                <a:spcPct val="115000"/>
              </a:lnSpc>
              <a:spcBef>
                <a:spcPts val="0"/>
              </a:spcBef>
              <a:spcAft>
                <a:spcPts val="0"/>
              </a:spcAft>
              <a:buSzPts val="1600"/>
              <a:buNone/>
            </a:pPr>
            <a:endParaRPr sz="19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1103974" y="140225"/>
            <a:ext cx="6917469" cy="572700"/>
          </a:xfrm>
          <a:prstGeom prst="rect">
            <a:avLst/>
          </a:prstGeom>
          <a:noFill/>
          <a:ln>
            <a:noFill/>
          </a:ln>
        </p:spPr>
        <p:txBody>
          <a:bodyPr spcFirstLastPara="1" wrap="square" lIns="91425" tIns="91425" rIns="91425" bIns="91425" anchor="ctr" anchorCtr="0">
            <a:normAutofit/>
          </a:bodyPr>
          <a:lstStyle/>
          <a:p>
            <a:pPr marL="0" lvl="0" indent="0" rtl="0">
              <a:lnSpc>
                <a:spcPct val="100000"/>
              </a:lnSpc>
              <a:spcBef>
                <a:spcPts val="0"/>
              </a:spcBef>
              <a:spcAft>
                <a:spcPts val="0"/>
              </a:spcAft>
              <a:buSzPct val="103173"/>
              <a:buNone/>
            </a:pPr>
            <a:r>
              <a:rPr lang="en" dirty="0">
                <a:solidFill>
                  <a:srgbClr val="0000FF"/>
                </a:solidFill>
              </a:rPr>
              <a:t>Outline</a:t>
            </a:r>
            <a:endParaRPr dirty="0">
              <a:solidFill>
                <a:srgbClr val="0000FF"/>
              </a:solidFill>
            </a:endParaRPr>
          </a:p>
        </p:txBody>
      </p:sp>
      <p:sp>
        <p:nvSpPr>
          <p:cNvPr id="37" name="Google Shape;37;p5"/>
          <p:cNvSpPr txBox="1">
            <a:spLocks noGrp="1"/>
          </p:cNvSpPr>
          <p:nvPr>
            <p:ph type="body" idx="1"/>
          </p:nvPr>
        </p:nvSpPr>
        <p:spPr>
          <a:xfrm>
            <a:off x="311700" y="923875"/>
            <a:ext cx="8520600" cy="3416400"/>
          </a:xfrm>
          <a:prstGeom prst="rect">
            <a:avLst/>
          </a:prstGeom>
          <a:noFill/>
          <a:ln>
            <a:noFill/>
          </a:ln>
        </p:spPr>
        <p:txBody>
          <a:bodyPr spcFirstLastPara="1" wrap="square" lIns="91425" tIns="91425" rIns="91425" bIns="91425" anchor="t" anchorCtr="0">
            <a:normAutofit fontScale="92500" lnSpcReduction="10000"/>
          </a:bodyPr>
          <a:lstStyle/>
          <a:p>
            <a:pPr marL="457200" lvl="0" indent="-316705" algn="l" rtl="0">
              <a:lnSpc>
                <a:spcPct val="115000"/>
              </a:lnSpc>
              <a:spcBef>
                <a:spcPts val="0"/>
              </a:spcBef>
              <a:spcAft>
                <a:spcPts val="0"/>
              </a:spcAft>
              <a:buSzPct val="83333"/>
              <a:buChar char="●"/>
            </a:pPr>
            <a:r>
              <a:rPr lang="en" dirty="0"/>
              <a:t>Company Brief</a:t>
            </a:r>
            <a:endParaRPr dirty="0"/>
          </a:p>
          <a:p>
            <a:pPr marL="914400" lvl="1" indent="-304958" algn="l" rtl="0">
              <a:lnSpc>
                <a:spcPct val="115000"/>
              </a:lnSpc>
              <a:spcBef>
                <a:spcPts val="0"/>
              </a:spcBef>
              <a:spcAft>
                <a:spcPts val="0"/>
              </a:spcAft>
              <a:buSzPct val="92857"/>
              <a:buChar char="○"/>
            </a:pPr>
            <a:r>
              <a:rPr lang="en" dirty="0"/>
              <a:t>Brief overview of company at which you are working. Should also include the contact details of the company and the resource person or a leader to which your are work are reported.</a:t>
            </a:r>
            <a:endParaRPr dirty="0"/>
          </a:p>
          <a:p>
            <a:pPr marL="457200" lvl="0" indent="-316705" algn="l" rtl="0">
              <a:lnSpc>
                <a:spcPct val="115000"/>
              </a:lnSpc>
              <a:spcBef>
                <a:spcPts val="0"/>
              </a:spcBef>
              <a:spcAft>
                <a:spcPts val="0"/>
              </a:spcAft>
              <a:buSzPct val="83333"/>
              <a:buChar char="●"/>
            </a:pPr>
            <a:r>
              <a:rPr lang="en" dirty="0"/>
              <a:t>Domain and Technology Stack</a:t>
            </a:r>
            <a:endParaRPr dirty="0"/>
          </a:p>
          <a:p>
            <a:pPr marL="914400" lvl="1" indent="-304958" algn="l" rtl="0">
              <a:lnSpc>
                <a:spcPct val="115000"/>
              </a:lnSpc>
              <a:spcBef>
                <a:spcPts val="0"/>
              </a:spcBef>
              <a:spcAft>
                <a:spcPts val="0"/>
              </a:spcAft>
              <a:buSzPct val="92857"/>
              <a:buChar char="○"/>
            </a:pPr>
            <a:r>
              <a:rPr lang="en" dirty="0"/>
              <a:t>Brief explanation of the domain in which you are working</a:t>
            </a:r>
            <a:endParaRPr dirty="0"/>
          </a:p>
          <a:p>
            <a:pPr marL="914400" lvl="1" indent="-304958" algn="l" rtl="0">
              <a:lnSpc>
                <a:spcPct val="115000"/>
              </a:lnSpc>
              <a:spcBef>
                <a:spcPts val="0"/>
              </a:spcBef>
              <a:spcAft>
                <a:spcPts val="0"/>
              </a:spcAft>
              <a:buSzPct val="92857"/>
              <a:buChar char="○"/>
            </a:pPr>
            <a:r>
              <a:rPr lang="en" dirty="0"/>
              <a:t>Overview of technology stack in which your are working (Language / Framework / Tools / Technologies)</a:t>
            </a:r>
            <a:endParaRPr dirty="0"/>
          </a:p>
          <a:p>
            <a:pPr marL="457200" lvl="0" indent="-316705" algn="l" rtl="0">
              <a:lnSpc>
                <a:spcPct val="115000"/>
              </a:lnSpc>
              <a:spcBef>
                <a:spcPts val="0"/>
              </a:spcBef>
              <a:spcAft>
                <a:spcPts val="0"/>
              </a:spcAft>
              <a:buSzPct val="83333"/>
              <a:buChar char="●"/>
            </a:pPr>
            <a:r>
              <a:rPr lang="en" dirty="0"/>
              <a:t>Work Profile</a:t>
            </a:r>
            <a:endParaRPr dirty="0"/>
          </a:p>
          <a:p>
            <a:pPr marL="914400" lvl="1" indent="-304958" algn="l" rtl="0">
              <a:lnSpc>
                <a:spcPct val="115000"/>
              </a:lnSpc>
              <a:spcBef>
                <a:spcPts val="0"/>
              </a:spcBef>
              <a:spcAft>
                <a:spcPts val="0"/>
              </a:spcAft>
              <a:buSzPct val="92857"/>
              <a:buChar char="○"/>
            </a:pPr>
            <a:r>
              <a:rPr lang="en" dirty="0"/>
              <a:t>Work assigned to you by the company (Project based or task based)</a:t>
            </a:r>
            <a:endParaRPr dirty="0"/>
          </a:p>
          <a:p>
            <a:pPr marL="457200" lvl="0" indent="-316705" algn="l" rtl="0">
              <a:lnSpc>
                <a:spcPct val="115000"/>
              </a:lnSpc>
              <a:spcBef>
                <a:spcPts val="0"/>
              </a:spcBef>
              <a:spcAft>
                <a:spcPts val="0"/>
              </a:spcAft>
              <a:buSzPct val="83333"/>
              <a:buChar char="●"/>
            </a:pPr>
            <a:r>
              <a:rPr lang="en" dirty="0"/>
              <a:t>Type of engagement</a:t>
            </a:r>
            <a:endParaRPr dirty="0"/>
          </a:p>
          <a:p>
            <a:pPr marL="914400" lvl="1" indent="-304958" algn="l" rtl="0">
              <a:lnSpc>
                <a:spcPct val="115000"/>
              </a:lnSpc>
              <a:spcBef>
                <a:spcPts val="0"/>
              </a:spcBef>
              <a:spcAft>
                <a:spcPts val="0"/>
              </a:spcAft>
              <a:buSzPct val="92857"/>
              <a:buChar char="○"/>
            </a:pPr>
            <a:r>
              <a:rPr lang="en" dirty="0"/>
              <a:t>How many hours per day? What is the timing?</a:t>
            </a:r>
            <a:endParaRPr dirty="0"/>
          </a:p>
          <a:p>
            <a:pPr marL="457200" lvl="0" indent="-316705" algn="l" rtl="0">
              <a:lnSpc>
                <a:spcPct val="115000"/>
              </a:lnSpc>
              <a:spcBef>
                <a:spcPts val="0"/>
              </a:spcBef>
              <a:spcAft>
                <a:spcPts val="0"/>
              </a:spcAft>
              <a:buSzPct val="83333"/>
              <a:buChar char="●"/>
            </a:pPr>
            <a:r>
              <a:rPr lang="en" dirty="0"/>
              <a:t>Weekly diary</a:t>
            </a:r>
            <a:endParaRPr dirty="0"/>
          </a:p>
          <a:p>
            <a:pPr marL="914400" lvl="1" indent="-304958" algn="l" rtl="0">
              <a:lnSpc>
                <a:spcPct val="115000"/>
              </a:lnSpc>
              <a:spcBef>
                <a:spcPts val="0"/>
              </a:spcBef>
              <a:spcAft>
                <a:spcPts val="0"/>
              </a:spcAft>
              <a:buSzPct val="92857"/>
              <a:buChar char="○"/>
            </a:pPr>
            <a:r>
              <a:rPr lang="en" dirty="0"/>
              <a:t>Snapshots of Weekly diary maintained since the beginning of internship till date</a:t>
            </a:r>
            <a:endParaRPr dirty="0"/>
          </a:p>
          <a:p>
            <a:pPr marL="457200" lvl="0" indent="-316705" algn="l" rtl="0">
              <a:lnSpc>
                <a:spcPct val="115000"/>
              </a:lnSpc>
              <a:spcBef>
                <a:spcPts val="0"/>
              </a:spcBef>
              <a:spcAft>
                <a:spcPts val="0"/>
              </a:spcAft>
              <a:buSzPct val="83333"/>
              <a:buChar char="●"/>
            </a:pPr>
            <a:r>
              <a:rPr lang="en" dirty="0"/>
              <a:t>Documents</a:t>
            </a:r>
            <a:endParaRPr dirty="0"/>
          </a:p>
          <a:p>
            <a:pPr marL="914400" lvl="1" indent="-304958" algn="l" rtl="0">
              <a:lnSpc>
                <a:spcPct val="115000"/>
              </a:lnSpc>
              <a:spcBef>
                <a:spcPts val="0"/>
              </a:spcBef>
              <a:spcAft>
                <a:spcPts val="0"/>
              </a:spcAft>
              <a:buSzPct val="92857"/>
              <a:buChar char="○"/>
            </a:pPr>
            <a:r>
              <a:rPr lang="en" dirty="0"/>
              <a:t>Snapshot of Joining letter or contract agreement between you and your company.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Company Brief</a:t>
            </a:r>
          </a:p>
        </p:txBody>
      </p:sp>
      <p:sp>
        <p:nvSpPr>
          <p:cNvPr id="7" name="Google Shape;37;p5">
            <a:extLst>
              <a:ext uri="{FF2B5EF4-FFF2-40B4-BE49-F238E27FC236}">
                <a16:creationId xmlns:a16="http://schemas.microsoft.com/office/drawing/2014/main" id="{C6B7CFD1-71AD-DB47-C5F2-764FA2F35CAA}"/>
              </a:ext>
            </a:extLst>
          </p:cNvPr>
          <p:cNvSpPr txBox="1">
            <a:spLocks noGrp="1"/>
          </p:cNvSpPr>
          <p:nvPr>
            <p:ph type="body" idx="1"/>
          </p:nvPr>
        </p:nvSpPr>
        <p:spPr>
          <a:xfrm>
            <a:off x="311150" y="923925"/>
            <a:ext cx="8521700" cy="3416300"/>
          </a:xfrm>
          <a:prstGeom prst="rect">
            <a:avLst/>
          </a:prstGeom>
          <a:noFill/>
          <a:ln>
            <a:noFill/>
          </a:ln>
        </p:spPr>
        <p:txBody>
          <a:bodyPr spcFirstLastPara="1" wrap="square" lIns="91425" tIns="91425" rIns="91425" bIns="91425" anchor="t" anchorCtr="0">
            <a:normAutofit/>
          </a:bodyPr>
          <a:lstStyle/>
          <a:p>
            <a:pPr marL="114300" indent="0">
              <a:buNone/>
            </a:pPr>
            <a:r>
              <a:rPr lang="en-US" b="1"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Inside InfoTech Solutions</a:t>
            </a:r>
          </a:p>
          <a:p>
            <a:pPr marL="11430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Established in </a:t>
            </a:r>
            <a:r>
              <a:rPr lang="en-US" sz="1400" b="1" dirty="0">
                <a:latin typeface="Calibri" panose="020F0502020204030204" pitchFamily="34" charset="0"/>
                <a:ea typeface="Calibri" panose="020F0502020204030204" pitchFamily="34" charset="0"/>
                <a:cs typeface="Calibri" panose="020F0502020204030204" pitchFamily="34" charset="0"/>
              </a:rPr>
              <a:t>2004</a:t>
            </a:r>
            <a:r>
              <a:rPr lang="en-US" sz="1400" dirty="0">
                <a:latin typeface="Calibri" panose="020F0502020204030204" pitchFamily="34" charset="0"/>
                <a:ea typeface="Calibri" panose="020F0502020204030204" pitchFamily="34" charset="0"/>
                <a:cs typeface="Calibri" panose="020F0502020204030204" pitchFamily="34" charset="0"/>
              </a:rPr>
              <a:t>, a leading IT solutions provider.</a:t>
            </a:r>
          </a:p>
          <a:p>
            <a:r>
              <a:rPr lang="en-US" sz="1400" dirty="0">
                <a:latin typeface="Calibri" panose="020F0502020204030204" pitchFamily="34" charset="0"/>
                <a:ea typeface="Calibri" panose="020F0502020204030204" pitchFamily="34" charset="0"/>
                <a:cs typeface="Calibri" panose="020F0502020204030204" pitchFamily="34" charset="0"/>
              </a:rPr>
              <a:t>Expertise in:</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OMR/OCR &amp; Digitization</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Data Integration &amp; Web Development</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Customized Software Development</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Systems Integration</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Sales &amp; setup of computer systems, printers, peripherals, and networking products</a:t>
            </a:r>
          </a:p>
          <a:p>
            <a:r>
              <a:rPr lang="en-US" sz="1400" dirty="0">
                <a:latin typeface="Calibri" panose="020F0502020204030204" pitchFamily="34" charset="0"/>
                <a:ea typeface="Calibri" panose="020F0502020204030204" pitchFamily="34" charset="0"/>
                <a:cs typeface="Calibri" panose="020F0502020204030204" pitchFamily="34" charset="0"/>
              </a:rPr>
              <a:t>Services include strategic digital business solutions, networking setup, on-site support, and data processing.</a:t>
            </a:r>
          </a:p>
          <a:p>
            <a:r>
              <a:rPr lang="en-US" sz="1400" dirty="0">
                <a:latin typeface="Calibri" panose="020F0502020204030204" pitchFamily="34" charset="0"/>
                <a:ea typeface="Calibri" panose="020F0502020204030204" pitchFamily="34" charset="0"/>
                <a:cs typeface="Calibri" panose="020F0502020204030204" pitchFamily="34" charset="0"/>
              </a:rPr>
              <a:t>Known for </a:t>
            </a:r>
            <a:r>
              <a:rPr lang="en-US" sz="1400" b="1" dirty="0">
                <a:latin typeface="Calibri" panose="020F0502020204030204" pitchFamily="34" charset="0"/>
                <a:ea typeface="Calibri" panose="020F0502020204030204" pitchFamily="34" charset="0"/>
                <a:cs typeface="Calibri" panose="020F0502020204030204" pitchFamily="34" charset="0"/>
              </a:rPr>
              <a:t>innovation</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1" dirty="0">
                <a:latin typeface="Calibri" panose="020F0502020204030204" pitchFamily="34" charset="0"/>
                <a:ea typeface="Calibri" panose="020F0502020204030204" pitchFamily="34" charset="0"/>
                <a:cs typeface="Calibri" panose="020F0502020204030204" pitchFamily="34" charset="0"/>
              </a:rPr>
              <a:t>customer focus</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1" dirty="0">
                <a:latin typeface="Calibri" panose="020F0502020204030204" pitchFamily="34" charset="0"/>
                <a:ea typeface="Calibri" panose="020F0502020204030204" pitchFamily="34" charset="0"/>
                <a:cs typeface="Calibri" panose="020F0502020204030204" pitchFamily="34" charset="0"/>
              </a:rPr>
              <a:t>teamwork</a:t>
            </a:r>
            <a:r>
              <a:rPr lang="en-US" sz="1400" dirty="0">
                <a:latin typeface="Calibri" panose="020F0502020204030204" pitchFamily="34" charset="0"/>
                <a:ea typeface="Calibri" panose="020F0502020204030204" pitchFamily="34" charset="0"/>
                <a:cs typeface="Calibri" panose="020F0502020204030204" pitchFamily="34" charset="0"/>
              </a:rPr>
              <a:t>, </a:t>
            </a:r>
            <a:r>
              <a:rPr lang="en-US" sz="1400" b="1" dirty="0">
                <a:latin typeface="Calibri" panose="020F0502020204030204" pitchFamily="34" charset="0"/>
                <a:ea typeface="Calibri" panose="020F0502020204030204" pitchFamily="34" charset="0"/>
                <a:cs typeface="Calibri" panose="020F0502020204030204" pitchFamily="34" charset="0"/>
              </a:rPr>
              <a:t>integrity</a:t>
            </a:r>
            <a:r>
              <a:rPr lang="en-US" sz="1400" dirty="0">
                <a:latin typeface="Calibri" panose="020F0502020204030204" pitchFamily="34" charset="0"/>
                <a:ea typeface="Calibri" panose="020F0502020204030204" pitchFamily="34" charset="0"/>
                <a:cs typeface="Calibri" panose="020F0502020204030204" pitchFamily="34" charset="0"/>
              </a:rPr>
              <a:t>, and </a:t>
            </a:r>
            <a:r>
              <a:rPr lang="en-US" sz="1400" b="1" dirty="0">
                <a:latin typeface="Calibri" panose="020F0502020204030204" pitchFamily="34" charset="0"/>
                <a:ea typeface="Calibri" panose="020F0502020204030204" pitchFamily="34" charset="0"/>
                <a:cs typeface="Calibri" panose="020F0502020204030204" pitchFamily="34" charset="0"/>
              </a:rPr>
              <a:t>safety excellence</a:t>
            </a:r>
            <a:r>
              <a:rPr lang="en-US" sz="1400" dirty="0">
                <a:latin typeface="Calibri" panose="020F0502020204030204" pitchFamily="34" charset="0"/>
                <a:ea typeface="Calibri" panose="020F0502020204030204" pitchFamily="34" charset="0"/>
                <a:cs typeface="Calibri" panose="020F0502020204030204" pitchFamily="34" charset="0"/>
              </a:rPr>
              <a:t>.</a:t>
            </a:r>
          </a:p>
          <a:p>
            <a:pPr marL="140495" lvl="0" indent="0" algn="l" rtl="0">
              <a:lnSpc>
                <a:spcPct val="115000"/>
              </a:lnSpc>
              <a:spcBef>
                <a:spcPts val="0"/>
              </a:spcBef>
              <a:spcAft>
                <a:spcPts val="0"/>
              </a:spcAft>
              <a:buSzPct val="83333"/>
              <a:buNone/>
            </a:pPr>
            <a:endParaRPr dirty="0"/>
          </a:p>
        </p:txBody>
      </p:sp>
      <p:pic>
        <p:nvPicPr>
          <p:cNvPr id="8" name="Picture 7" descr="A logo with a star and a letter&#10;&#10;AI-generated content may be incorrect.">
            <a:extLst>
              <a:ext uri="{FF2B5EF4-FFF2-40B4-BE49-F238E27FC236}">
                <a16:creationId xmlns:a16="http://schemas.microsoft.com/office/drawing/2014/main" id="{F93D52B4-385E-E5EC-8924-0888E1EB7D3E}"/>
              </a:ext>
            </a:extLst>
          </p:cNvPr>
          <p:cNvPicPr>
            <a:picLocks noChangeAspect="1"/>
          </p:cNvPicPr>
          <p:nvPr/>
        </p:nvPicPr>
        <p:blipFill>
          <a:blip r:embed="rId2"/>
          <a:stretch>
            <a:fillRect/>
          </a:stretch>
        </p:blipFill>
        <p:spPr>
          <a:xfrm>
            <a:off x="648308" y="990368"/>
            <a:ext cx="455666" cy="3254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Company Brief</a:t>
            </a:r>
          </a:p>
        </p:txBody>
      </p:sp>
      <p:sp>
        <p:nvSpPr>
          <p:cNvPr id="9" name="Google Shape;37;p5">
            <a:extLst>
              <a:ext uri="{FF2B5EF4-FFF2-40B4-BE49-F238E27FC236}">
                <a16:creationId xmlns:a16="http://schemas.microsoft.com/office/drawing/2014/main" id="{2E8140D2-23D4-C495-FD2E-856FB85EBB1A}"/>
              </a:ext>
            </a:extLst>
          </p:cNvPr>
          <p:cNvSpPr txBox="1">
            <a:spLocks noGrp="1"/>
          </p:cNvSpPr>
          <p:nvPr>
            <p:ph type="body" idx="1"/>
          </p:nvPr>
        </p:nvSpPr>
        <p:spPr>
          <a:xfrm>
            <a:off x="311150" y="923925"/>
            <a:ext cx="8521700" cy="3982612"/>
          </a:xfrm>
          <a:prstGeom prst="rect">
            <a:avLst/>
          </a:prstGeom>
          <a:noFill/>
          <a:ln>
            <a:noFill/>
          </a:ln>
        </p:spPr>
        <p:txBody>
          <a:bodyPr spcFirstLastPara="1" wrap="square" lIns="91425" tIns="91425" rIns="91425" bIns="91425" anchor="t" anchorCtr="0">
            <a:normAutofit fontScale="55000" lnSpcReduction="20000"/>
          </a:bodyPr>
          <a:lstStyle/>
          <a:p>
            <a:pPr marL="114300" indent="0">
              <a:buNone/>
            </a:pPr>
            <a:r>
              <a:rPr lang="en-US" sz="2900" b="1" dirty="0">
                <a:latin typeface="+mj-lt"/>
                <a:ea typeface="Calibri" panose="020F0502020204030204" pitchFamily="34" charset="0"/>
                <a:cs typeface="Calibri" panose="020F0502020204030204" pitchFamily="34" charset="0"/>
              </a:rPr>
              <a:t>Contact Details:</a:t>
            </a:r>
          </a:p>
          <a:p>
            <a:pPr marL="114300" indent="0">
              <a:buNone/>
            </a:pPr>
            <a:endParaRPr lang="en-US" sz="2000" b="1" dirty="0">
              <a:latin typeface="+mj-lt"/>
              <a:ea typeface="Calibri" panose="020F0502020204030204" pitchFamily="34" charset="0"/>
              <a:cs typeface="Calibri" panose="020F0502020204030204" pitchFamily="34" charset="0"/>
            </a:endParaRPr>
          </a:p>
          <a:p>
            <a:r>
              <a:rPr lang="en-IN" sz="2500" b="1" dirty="0">
                <a:latin typeface="+mj-lt"/>
                <a:ea typeface="Calibri" panose="020F0502020204030204" pitchFamily="34" charset="0"/>
                <a:cs typeface="Calibri" panose="020F0502020204030204" pitchFamily="34" charset="0"/>
              </a:rPr>
              <a:t>Head Office</a:t>
            </a:r>
            <a:r>
              <a:rPr lang="en-IN" sz="2200" b="1" dirty="0">
                <a:latin typeface="+mj-lt"/>
                <a:ea typeface="Calibri" panose="020F0502020204030204" pitchFamily="34" charset="0"/>
                <a:cs typeface="Calibri" panose="020F0502020204030204" pitchFamily="34" charset="0"/>
              </a:rPr>
              <a:t>: </a:t>
            </a:r>
            <a:br>
              <a:rPr lang="en-IN" sz="2200" dirty="0">
                <a:latin typeface="+mj-lt"/>
                <a:ea typeface="Calibri" panose="020F0502020204030204" pitchFamily="34" charset="0"/>
                <a:cs typeface="Calibri" panose="020F0502020204030204" pitchFamily="34" charset="0"/>
              </a:rPr>
            </a:br>
            <a:r>
              <a:rPr lang="en-IN" sz="2200" dirty="0">
                <a:latin typeface="+mj-lt"/>
                <a:ea typeface="Calibri" panose="020F0502020204030204" pitchFamily="34" charset="0"/>
                <a:cs typeface="Calibri" panose="020F0502020204030204" pitchFamily="34" charset="0"/>
              </a:rPr>
              <a:t>📍 Inside InfoTech Solutions</a:t>
            </a:r>
            <a:br>
              <a:rPr lang="en-IN" sz="2200" dirty="0">
                <a:latin typeface="+mj-lt"/>
                <a:ea typeface="Calibri" panose="020F0502020204030204" pitchFamily="34" charset="0"/>
                <a:cs typeface="Calibri" panose="020F0502020204030204" pitchFamily="34" charset="0"/>
              </a:rPr>
            </a:br>
            <a:r>
              <a:rPr lang="en-US" sz="2200" dirty="0">
                <a:latin typeface="+mj-lt"/>
              </a:rPr>
              <a:t>606/607/608,A-Wing,River Palace,</a:t>
            </a:r>
            <a:br>
              <a:rPr lang="en-US" sz="2200" dirty="0">
                <a:latin typeface="+mj-lt"/>
              </a:rPr>
            </a:br>
            <a:r>
              <a:rPr lang="en-US" sz="2200" dirty="0">
                <a:latin typeface="+mj-lt"/>
              </a:rPr>
              <a:t>Opp Ramji Mandir, Near </a:t>
            </a:r>
            <a:r>
              <a:rPr lang="en-US" sz="2200" dirty="0" err="1">
                <a:latin typeface="+mj-lt"/>
              </a:rPr>
              <a:t>Bahumali</a:t>
            </a:r>
            <a:r>
              <a:rPr lang="en-US" sz="2200" dirty="0">
                <a:latin typeface="+mj-lt"/>
              </a:rPr>
              <a:t> Bhavan,</a:t>
            </a:r>
            <a:br>
              <a:rPr lang="en-US" sz="2200" dirty="0">
                <a:latin typeface="+mj-lt"/>
              </a:rPr>
            </a:br>
            <a:r>
              <a:rPr lang="en-US" sz="2200" dirty="0" err="1">
                <a:latin typeface="+mj-lt"/>
              </a:rPr>
              <a:t>Navdi</a:t>
            </a:r>
            <a:r>
              <a:rPr lang="en-US" sz="2200" dirty="0">
                <a:latin typeface="+mj-lt"/>
              </a:rPr>
              <a:t> </a:t>
            </a:r>
            <a:r>
              <a:rPr lang="en-US" sz="2200" dirty="0" err="1">
                <a:latin typeface="+mj-lt"/>
              </a:rPr>
              <a:t>Owara</a:t>
            </a:r>
            <a:r>
              <a:rPr lang="en-US" sz="2200" dirty="0">
                <a:latin typeface="+mj-lt"/>
              </a:rPr>
              <a:t>, </a:t>
            </a:r>
            <a:r>
              <a:rPr lang="en-US" sz="2200" dirty="0" err="1">
                <a:latin typeface="+mj-lt"/>
              </a:rPr>
              <a:t>Nanpura</a:t>
            </a:r>
            <a:r>
              <a:rPr lang="en-US" sz="2200" dirty="0">
                <a:latin typeface="+mj-lt"/>
              </a:rPr>
              <a:t>,</a:t>
            </a:r>
            <a:br>
              <a:rPr lang="en-US" sz="2200" dirty="0">
                <a:latin typeface="+mj-lt"/>
              </a:rPr>
            </a:br>
            <a:r>
              <a:rPr lang="en-US" sz="2200" dirty="0">
                <a:latin typeface="+mj-lt"/>
              </a:rPr>
              <a:t>Surat-395001</a:t>
            </a:r>
          </a:p>
          <a:p>
            <a:pPr marL="114300" indent="0">
              <a:buNone/>
            </a:pPr>
            <a:endParaRPr lang="en-IN" sz="2200" dirty="0">
              <a:latin typeface="+mj-lt"/>
              <a:ea typeface="Calibri" panose="020F0502020204030204" pitchFamily="34" charset="0"/>
              <a:cs typeface="Calibri" panose="020F0502020204030204" pitchFamily="34" charset="0"/>
            </a:endParaRPr>
          </a:p>
          <a:p>
            <a:r>
              <a:rPr lang="en-IN" sz="2500" b="1" dirty="0">
                <a:latin typeface="+mj-lt"/>
                <a:ea typeface="Calibri" panose="020F0502020204030204" pitchFamily="34" charset="0"/>
                <a:cs typeface="Calibri" panose="020F0502020204030204" pitchFamily="34" charset="0"/>
              </a:rPr>
              <a:t>Contact:</a:t>
            </a:r>
            <a:br>
              <a:rPr lang="en-IN" sz="2200" dirty="0">
                <a:latin typeface="+mj-lt"/>
                <a:ea typeface="Calibri" panose="020F0502020204030204" pitchFamily="34" charset="0"/>
                <a:cs typeface="Calibri" panose="020F0502020204030204" pitchFamily="34" charset="0"/>
              </a:rPr>
            </a:br>
            <a:r>
              <a:rPr lang="en-IN" sz="2200" dirty="0">
                <a:latin typeface="+mj-lt"/>
                <a:ea typeface="Calibri" panose="020F0502020204030204" pitchFamily="34" charset="0"/>
                <a:cs typeface="Calibri" panose="020F0502020204030204" pitchFamily="34" charset="0"/>
              </a:rPr>
              <a:t>📞 Phone: </a:t>
            </a:r>
            <a:r>
              <a:rPr lang="en-IN" sz="2000" dirty="0">
                <a:latin typeface="+mj-lt"/>
              </a:rPr>
              <a:t>+91-99247 83883</a:t>
            </a:r>
          </a:p>
          <a:p>
            <a:pPr marL="114300" indent="0">
              <a:lnSpc>
                <a:spcPct val="120000"/>
              </a:lnSpc>
              <a:buNone/>
            </a:pPr>
            <a:r>
              <a:rPr lang="en-IN" sz="2200" dirty="0">
                <a:latin typeface="+mj-lt"/>
                <a:ea typeface="Calibri" panose="020F0502020204030204" pitchFamily="34" charset="0"/>
                <a:cs typeface="Calibri" panose="020F0502020204030204" pitchFamily="34" charset="0"/>
              </a:rPr>
              <a:t>        📧 Email: </a:t>
            </a:r>
            <a:r>
              <a:rPr lang="en-IN" sz="2000" dirty="0">
                <a:latin typeface="+mj-lt"/>
              </a:rPr>
              <a:t>info@iisdigital.com</a:t>
            </a:r>
            <a:br>
              <a:rPr lang="en-IN" sz="2200" dirty="0">
                <a:latin typeface="+mj-lt"/>
                <a:ea typeface="Calibri" panose="020F0502020204030204" pitchFamily="34" charset="0"/>
                <a:cs typeface="Calibri" panose="020F0502020204030204" pitchFamily="34" charset="0"/>
              </a:rPr>
            </a:br>
            <a:r>
              <a:rPr lang="en-IN" sz="2200" dirty="0">
                <a:latin typeface="+mj-lt"/>
                <a:ea typeface="Calibri" panose="020F0502020204030204" pitchFamily="34" charset="0"/>
                <a:cs typeface="Calibri" panose="020F0502020204030204" pitchFamily="34" charset="0"/>
              </a:rPr>
              <a:t>        🌐 Website: </a:t>
            </a:r>
            <a:r>
              <a:rPr lang="en-IN" sz="2200" dirty="0">
                <a:latin typeface="+mj-lt"/>
                <a:ea typeface="Calibri" panose="020F0502020204030204" pitchFamily="34" charset="0"/>
                <a:cs typeface="Calibri" panose="020F0502020204030204" pitchFamily="34" charset="0"/>
                <a:hlinkClick r:id="rId2"/>
              </a:rPr>
              <a:t>www.iisdigital.com</a:t>
            </a:r>
            <a:endParaRPr lang="en-IN" sz="2200" dirty="0">
              <a:latin typeface="+mj-lt"/>
              <a:ea typeface="Calibri" panose="020F0502020204030204" pitchFamily="34" charset="0"/>
              <a:cs typeface="Calibri" panose="020F0502020204030204" pitchFamily="34" charset="0"/>
            </a:endParaRPr>
          </a:p>
          <a:p>
            <a:pPr marL="114300" indent="0">
              <a:buNone/>
            </a:pPr>
            <a:endParaRPr lang="en-IN" sz="2200" dirty="0">
              <a:latin typeface="+mj-lt"/>
              <a:ea typeface="Calibri" panose="020F0502020204030204" pitchFamily="34" charset="0"/>
              <a:cs typeface="Calibri" panose="020F0502020204030204" pitchFamily="34" charset="0"/>
            </a:endParaRPr>
          </a:p>
          <a:p>
            <a:r>
              <a:rPr lang="en-IN" sz="2500" b="1" dirty="0">
                <a:latin typeface="+mj-lt"/>
                <a:ea typeface="Calibri" panose="020F0502020204030204" pitchFamily="34" charset="0"/>
                <a:cs typeface="Calibri" panose="020F0502020204030204" pitchFamily="34" charset="0"/>
              </a:rPr>
              <a:t>Reporting Leader / Resource Person:</a:t>
            </a:r>
            <a:br>
              <a:rPr lang="en-IN" sz="2200" dirty="0">
                <a:latin typeface="+mj-lt"/>
                <a:ea typeface="Calibri" panose="020F0502020204030204" pitchFamily="34" charset="0"/>
                <a:cs typeface="Calibri" panose="020F0502020204030204" pitchFamily="34" charset="0"/>
              </a:rPr>
            </a:br>
            <a:r>
              <a:rPr lang="en-IN" sz="2200" dirty="0">
                <a:latin typeface="+mj-lt"/>
                <a:ea typeface="Calibri" panose="020F0502020204030204" pitchFamily="34" charset="0"/>
                <a:cs typeface="Calibri" panose="020F0502020204030204" pitchFamily="34" charset="0"/>
              </a:rPr>
              <a:t>👤 Name: Mr. Jagdish </a:t>
            </a:r>
            <a:r>
              <a:rPr lang="en-IN" sz="2200" dirty="0" err="1">
                <a:latin typeface="+mj-lt"/>
                <a:ea typeface="Calibri" panose="020F0502020204030204" pitchFamily="34" charset="0"/>
                <a:cs typeface="Calibri" panose="020F0502020204030204" pitchFamily="34" charset="0"/>
              </a:rPr>
              <a:t>Baldaniya</a:t>
            </a:r>
            <a:br>
              <a:rPr lang="en-IN" sz="2200" dirty="0">
                <a:latin typeface="+mj-lt"/>
                <a:ea typeface="Calibri" panose="020F0502020204030204" pitchFamily="34" charset="0"/>
                <a:cs typeface="Calibri" panose="020F0502020204030204" pitchFamily="34" charset="0"/>
              </a:rPr>
            </a:br>
            <a:r>
              <a:rPr lang="en-IN" sz="2200" dirty="0">
                <a:latin typeface="+mj-lt"/>
                <a:ea typeface="Calibri" panose="020F0502020204030204" pitchFamily="34" charset="0"/>
                <a:cs typeface="Calibri" panose="020F0502020204030204" pitchFamily="34" charset="0"/>
              </a:rPr>
              <a:t>📌 Designation: Director</a:t>
            </a:r>
            <a:br>
              <a:rPr lang="en-IN" sz="2200" dirty="0">
                <a:latin typeface="+mj-lt"/>
                <a:ea typeface="Calibri" panose="020F0502020204030204" pitchFamily="34" charset="0"/>
                <a:cs typeface="Calibri" panose="020F0502020204030204" pitchFamily="34" charset="0"/>
              </a:rPr>
            </a:br>
            <a:r>
              <a:rPr lang="en-IN" sz="2200" dirty="0">
                <a:latin typeface="+mj-lt"/>
                <a:ea typeface="Calibri" panose="020F0502020204030204" pitchFamily="34" charset="0"/>
                <a:cs typeface="Calibri" panose="020F0502020204030204" pitchFamily="34" charset="0"/>
              </a:rPr>
              <a:t>📞 Phone: 9924783883</a:t>
            </a:r>
            <a:br>
              <a:rPr lang="en-IN" sz="2200" dirty="0">
                <a:latin typeface="+mj-lt"/>
                <a:ea typeface="Calibri" panose="020F0502020204030204" pitchFamily="34" charset="0"/>
                <a:cs typeface="Calibri" panose="020F0502020204030204" pitchFamily="34" charset="0"/>
              </a:rPr>
            </a:br>
            <a:r>
              <a:rPr lang="en-IN" sz="2200" dirty="0">
                <a:latin typeface="+mj-lt"/>
                <a:ea typeface="Calibri" panose="020F0502020204030204" pitchFamily="34" charset="0"/>
                <a:cs typeface="Calibri" panose="020F0502020204030204" pitchFamily="34" charset="0"/>
              </a:rPr>
              <a:t>📧 Email: </a:t>
            </a:r>
            <a:r>
              <a:rPr lang="en-IN" sz="2000" dirty="0">
                <a:latin typeface="+mj-lt"/>
              </a:rPr>
              <a:t>info@iisdigital.com</a:t>
            </a:r>
            <a:endParaRPr lang="en-IN" sz="2000"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641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Domain and Technology Stack</a:t>
            </a:r>
          </a:p>
        </p:txBody>
      </p:sp>
      <p:sp>
        <p:nvSpPr>
          <p:cNvPr id="3" name="Text Placeholder 2"/>
          <p:cNvSpPr>
            <a:spLocks noGrp="1"/>
          </p:cNvSpPr>
          <p:nvPr>
            <p:ph type="body" idx="1"/>
          </p:nvPr>
        </p:nvSpPr>
        <p:spPr>
          <a:xfrm>
            <a:off x="311700" y="1271239"/>
            <a:ext cx="8520600" cy="3069036"/>
          </a:xfrm>
        </p:spPr>
        <p:txBody>
          <a:bodyPr wrap="square">
            <a:normAutofit/>
          </a:bodyPr>
          <a:lstStyle/>
          <a:p>
            <a:pPr>
              <a:spcAft>
                <a:spcPts val="1000"/>
              </a:spcAft>
            </a:pPr>
            <a:r>
              <a:rPr sz="1400" b="1" dirty="0">
                <a:latin typeface="+mj-lt"/>
              </a:rPr>
              <a:t>Domain</a:t>
            </a:r>
            <a:r>
              <a:rPr sz="1400" dirty="0">
                <a:latin typeface="+mj-lt"/>
              </a:rPr>
              <a:t>:</a:t>
            </a:r>
            <a:r>
              <a:rPr lang="en-US" sz="1400" dirty="0">
                <a:latin typeface="+mj-lt"/>
              </a:rPr>
              <a:t> Full Stack Developer</a:t>
            </a:r>
            <a:endParaRPr lang="en-US" dirty="0">
              <a:latin typeface="+mj-lt"/>
            </a:endParaRPr>
          </a:p>
          <a:p>
            <a:pPr>
              <a:lnSpc>
                <a:spcPct val="150000"/>
              </a:lnSpc>
            </a:pPr>
            <a:r>
              <a:rPr lang="en-US" b="1" i="0" dirty="0">
                <a:effectLst/>
                <a:latin typeface="+mj-lt"/>
              </a:rPr>
              <a:t>Development Stack:</a:t>
            </a:r>
            <a:endParaRPr lang="en-US" b="0" i="0" dirty="0">
              <a:effectLst/>
              <a:latin typeface="+mj-lt"/>
            </a:endParaRPr>
          </a:p>
          <a:p>
            <a:pPr marL="742950" lvl="1" indent="-285750">
              <a:lnSpc>
                <a:spcPct val="150000"/>
              </a:lnSpc>
            </a:pPr>
            <a:r>
              <a:rPr lang="en-US" b="1" i="0" dirty="0">
                <a:solidFill>
                  <a:schemeClr val="tx1"/>
                </a:solidFill>
                <a:effectLst/>
                <a:latin typeface="+mj-lt"/>
              </a:rPr>
              <a:t>Frontend:</a:t>
            </a:r>
            <a:r>
              <a:rPr lang="en-US" b="0" i="0" dirty="0">
                <a:solidFill>
                  <a:schemeClr val="tx1"/>
                </a:solidFill>
                <a:effectLst/>
                <a:latin typeface="+mj-lt"/>
              </a:rPr>
              <a:t> React Native (Expo) with Material Design 3.</a:t>
            </a:r>
          </a:p>
          <a:p>
            <a:pPr marL="742950" lvl="1" indent="-285750">
              <a:lnSpc>
                <a:spcPct val="150000"/>
              </a:lnSpc>
            </a:pPr>
            <a:r>
              <a:rPr lang="en-US" b="1" i="0" dirty="0">
                <a:solidFill>
                  <a:schemeClr val="tx1"/>
                </a:solidFill>
                <a:effectLst/>
                <a:latin typeface="+mj-lt"/>
              </a:rPr>
              <a:t>Backend:</a:t>
            </a:r>
            <a:r>
              <a:rPr lang="en-US" b="0" i="0" dirty="0">
                <a:solidFill>
                  <a:schemeClr val="tx1"/>
                </a:solidFill>
                <a:effectLst/>
                <a:latin typeface="+mj-lt"/>
              </a:rPr>
              <a:t> Node.js &amp; Express.js for scalable RESTful services.</a:t>
            </a:r>
          </a:p>
          <a:p>
            <a:pPr marL="742950" lvl="1" indent="-285750">
              <a:lnSpc>
                <a:spcPct val="150000"/>
              </a:lnSpc>
            </a:pPr>
            <a:r>
              <a:rPr lang="en-US" b="1" i="0" dirty="0">
                <a:solidFill>
                  <a:schemeClr val="tx1"/>
                </a:solidFill>
                <a:effectLst/>
                <a:latin typeface="+mj-lt"/>
              </a:rPr>
              <a:t>Intelligence:</a:t>
            </a:r>
            <a:r>
              <a:rPr lang="en-US" b="0" i="0" dirty="0">
                <a:solidFill>
                  <a:schemeClr val="tx1"/>
                </a:solidFill>
                <a:effectLst/>
                <a:latin typeface="+mj-lt"/>
              </a:rPr>
              <a:t> Python (</a:t>
            </a:r>
            <a:r>
              <a:rPr lang="en-US" b="0" i="0" dirty="0" err="1">
                <a:solidFill>
                  <a:schemeClr val="tx1"/>
                </a:solidFill>
                <a:effectLst/>
                <a:latin typeface="+mj-lt"/>
              </a:rPr>
              <a:t>FastAPI</a:t>
            </a:r>
            <a:r>
              <a:rPr lang="en-US" b="0" i="0" dirty="0">
                <a:solidFill>
                  <a:schemeClr val="tx1"/>
                </a:solidFill>
                <a:effectLst/>
                <a:latin typeface="+mj-lt"/>
              </a:rPr>
              <a:t>) for predictive stockout analysis.</a:t>
            </a:r>
          </a:p>
          <a:p>
            <a:pPr>
              <a:lnSpc>
                <a:spcPct val="150000"/>
              </a:lnSpc>
            </a:pPr>
            <a:r>
              <a:rPr lang="en-US" b="1" i="0" dirty="0">
                <a:effectLst/>
                <a:latin typeface="+mj-lt"/>
              </a:rPr>
              <a:t>Database:</a:t>
            </a:r>
            <a:r>
              <a:rPr lang="en-US" b="0" i="0" dirty="0">
                <a:effectLst/>
                <a:latin typeface="+mj-lt"/>
              </a:rPr>
              <a:t> Microsoft SQL Server 2022 (Relational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Work Profile</a:t>
            </a:r>
          </a:p>
        </p:txBody>
      </p:sp>
      <p:sp>
        <p:nvSpPr>
          <p:cNvPr id="3" name="Text Placeholder 2"/>
          <p:cNvSpPr>
            <a:spLocks noGrp="1"/>
          </p:cNvSpPr>
          <p:nvPr>
            <p:ph type="body" idx="1"/>
          </p:nvPr>
        </p:nvSpPr>
        <p:spPr>
          <a:xfrm>
            <a:off x="311700" y="923875"/>
            <a:ext cx="8520600" cy="3886018"/>
          </a:xfrm>
        </p:spPr>
        <p:txBody>
          <a:bodyPr wrap="square"/>
          <a:lstStyle/>
          <a:p>
            <a:pPr>
              <a:lnSpc>
                <a:spcPct val="150000"/>
              </a:lnSpc>
              <a:spcAft>
                <a:spcPts val="1000"/>
              </a:spcAft>
            </a:pPr>
            <a:r>
              <a:rPr dirty="0">
                <a:latin typeface="+mj-lt"/>
              </a:rPr>
              <a:t>Project: </a:t>
            </a:r>
            <a:r>
              <a:rPr lang="en-US" sz="1400" i="0" u="none" strike="noStrike" cap="none" dirty="0">
                <a:latin typeface="+mj-lt"/>
                <a:ea typeface="Book Antiqua"/>
                <a:cs typeface="Book Antiqua"/>
                <a:sym typeface="Book Antiqua"/>
              </a:rPr>
              <a:t>Thread Track: Smart Factory Management</a:t>
            </a:r>
            <a:endParaRPr dirty="0">
              <a:latin typeface="+mj-lt"/>
            </a:endParaRPr>
          </a:p>
          <a:p>
            <a:pPr>
              <a:lnSpc>
                <a:spcPct val="150000"/>
              </a:lnSpc>
            </a:pPr>
            <a:r>
              <a:rPr lang="en-US" b="1" i="0" dirty="0">
                <a:effectLst/>
                <a:latin typeface="+mj-lt"/>
              </a:rPr>
              <a:t>Backend &amp; API Engineering:</a:t>
            </a:r>
            <a:endParaRPr lang="en-US" b="0" i="0" dirty="0">
              <a:effectLst/>
              <a:latin typeface="+mj-lt"/>
            </a:endParaRPr>
          </a:p>
          <a:p>
            <a:pPr marL="742950" lvl="1" indent="-285750">
              <a:lnSpc>
                <a:spcPct val="150000"/>
              </a:lnSpc>
            </a:pPr>
            <a:r>
              <a:rPr lang="en-US" b="0" i="0" dirty="0">
                <a:solidFill>
                  <a:schemeClr val="tx1"/>
                </a:solidFill>
                <a:effectLst/>
                <a:latin typeface="+mj-lt"/>
              </a:rPr>
              <a:t>Implemented secure </a:t>
            </a:r>
            <a:r>
              <a:rPr lang="en-US" b="1" i="0" dirty="0">
                <a:solidFill>
                  <a:schemeClr val="tx1"/>
                </a:solidFill>
                <a:effectLst/>
                <a:latin typeface="+mj-lt"/>
              </a:rPr>
              <a:t>JWT-based Multi-Role Access Control (RBAC)</a:t>
            </a:r>
            <a:r>
              <a:rPr lang="en-US" b="0" i="0" dirty="0">
                <a:solidFill>
                  <a:schemeClr val="tx1"/>
                </a:solidFill>
                <a:effectLst/>
                <a:latin typeface="+mj-lt"/>
              </a:rPr>
              <a:t>.</a:t>
            </a:r>
          </a:p>
          <a:p>
            <a:pPr marL="742950" lvl="1" indent="-285750">
              <a:lnSpc>
                <a:spcPct val="150000"/>
              </a:lnSpc>
            </a:pPr>
            <a:r>
              <a:rPr lang="en-US" b="0" i="0" dirty="0">
                <a:solidFill>
                  <a:schemeClr val="tx1"/>
                </a:solidFill>
                <a:effectLst/>
                <a:latin typeface="+mj-lt"/>
              </a:rPr>
              <a:t>Engineered automated material consumption logic via </a:t>
            </a:r>
            <a:r>
              <a:rPr lang="en-US" b="1" i="0" dirty="0">
                <a:solidFill>
                  <a:schemeClr val="tx1"/>
                </a:solidFill>
                <a:effectLst/>
                <a:latin typeface="+mj-lt"/>
              </a:rPr>
              <a:t>SQL triggers</a:t>
            </a:r>
            <a:r>
              <a:rPr lang="en-US" b="0" i="0" dirty="0">
                <a:solidFill>
                  <a:schemeClr val="tx1"/>
                </a:solidFill>
                <a:effectLst/>
                <a:latin typeface="+mj-lt"/>
              </a:rPr>
              <a:t>.</a:t>
            </a:r>
          </a:p>
          <a:p>
            <a:pPr>
              <a:lnSpc>
                <a:spcPct val="150000"/>
              </a:lnSpc>
            </a:pPr>
            <a:r>
              <a:rPr lang="en-US" b="1" i="0" dirty="0">
                <a:effectLst/>
                <a:latin typeface="+mj-lt"/>
              </a:rPr>
              <a:t>Data Science &amp; Predictive Analysis:</a:t>
            </a:r>
            <a:endParaRPr lang="en-US" b="0" i="0" dirty="0">
              <a:effectLst/>
              <a:latin typeface="+mj-lt"/>
            </a:endParaRPr>
          </a:p>
          <a:p>
            <a:pPr marL="742950" lvl="1" indent="-285750">
              <a:lnSpc>
                <a:spcPct val="150000"/>
              </a:lnSpc>
            </a:pPr>
            <a:r>
              <a:rPr lang="en-US" b="0" i="0" dirty="0">
                <a:solidFill>
                  <a:schemeClr val="tx1"/>
                </a:solidFill>
                <a:effectLst/>
                <a:latin typeface="+mj-lt"/>
              </a:rPr>
              <a:t>Built a </a:t>
            </a:r>
            <a:r>
              <a:rPr lang="en-US" b="1" i="0" dirty="0">
                <a:solidFill>
                  <a:schemeClr val="tx1"/>
                </a:solidFill>
                <a:effectLst/>
                <a:latin typeface="+mj-lt"/>
              </a:rPr>
              <a:t>Python/</a:t>
            </a:r>
            <a:r>
              <a:rPr lang="en-US" b="1" i="0" dirty="0" err="1">
                <a:solidFill>
                  <a:schemeClr val="tx1"/>
                </a:solidFill>
                <a:effectLst/>
                <a:latin typeface="+mj-lt"/>
              </a:rPr>
              <a:t>FastAPI</a:t>
            </a:r>
            <a:r>
              <a:rPr lang="en-US" b="1" i="0" dirty="0">
                <a:solidFill>
                  <a:schemeClr val="tx1"/>
                </a:solidFill>
                <a:effectLst/>
                <a:latin typeface="+mj-lt"/>
              </a:rPr>
              <a:t> microservice</a:t>
            </a:r>
            <a:r>
              <a:rPr lang="en-US" b="0" i="0" dirty="0">
                <a:solidFill>
                  <a:schemeClr val="tx1"/>
                </a:solidFill>
                <a:effectLst/>
                <a:latin typeface="+mj-lt"/>
              </a:rPr>
              <a:t> for "Days-to-Stockout" calculations.</a:t>
            </a:r>
          </a:p>
          <a:p>
            <a:pPr marL="742950" lvl="1" indent="-285750">
              <a:lnSpc>
                <a:spcPct val="150000"/>
              </a:lnSpc>
            </a:pPr>
            <a:r>
              <a:rPr lang="en-US" b="0" i="0" dirty="0">
                <a:solidFill>
                  <a:schemeClr val="tx1"/>
                </a:solidFill>
                <a:effectLst/>
                <a:latin typeface="+mj-lt"/>
              </a:rPr>
              <a:t>Designed moving average algorithms for </a:t>
            </a:r>
            <a:r>
              <a:rPr lang="en-US" b="1" i="0" dirty="0">
                <a:solidFill>
                  <a:schemeClr val="tx1"/>
                </a:solidFill>
                <a:effectLst/>
                <a:latin typeface="+mj-lt"/>
              </a:rPr>
              <a:t>consumption forecasting</a:t>
            </a:r>
            <a:r>
              <a:rPr lang="en-US" b="0" i="0" dirty="0">
                <a:solidFill>
                  <a:schemeClr val="tx1"/>
                </a:solidFill>
                <a:effectLst/>
                <a:latin typeface="+mj-lt"/>
              </a:rPr>
              <a:t>.</a:t>
            </a:r>
          </a:p>
          <a:p>
            <a:pPr>
              <a:lnSpc>
                <a:spcPct val="150000"/>
              </a:lnSpc>
            </a:pPr>
            <a:r>
              <a:rPr lang="en-US" b="1" i="0" dirty="0">
                <a:effectLst/>
                <a:latin typeface="+mj-lt"/>
              </a:rPr>
              <a:t>Frontend &amp; App Development:</a:t>
            </a:r>
            <a:endParaRPr lang="en-US" b="0" i="0" dirty="0">
              <a:effectLst/>
              <a:latin typeface="+mj-lt"/>
            </a:endParaRPr>
          </a:p>
          <a:p>
            <a:pPr marL="742950" lvl="1" indent="-285750">
              <a:lnSpc>
                <a:spcPct val="150000"/>
              </a:lnSpc>
            </a:pPr>
            <a:r>
              <a:rPr lang="en-US" b="0" i="0" dirty="0">
                <a:solidFill>
                  <a:schemeClr val="tx1"/>
                </a:solidFill>
                <a:effectLst/>
                <a:latin typeface="+mj-lt"/>
              </a:rPr>
              <a:t>Designed three distinct, role-specific mobile dashboards (</a:t>
            </a:r>
            <a:r>
              <a:rPr lang="en-US" b="1" i="0" dirty="0">
                <a:solidFill>
                  <a:schemeClr val="tx1"/>
                </a:solidFill>
                <a:effectLst/>
                <a:latin typeface="+mj-lt"/>
              </a:rPr>
              <a:t>Admin, Worker, Buyer</a:t>
            </a:r>
            <a:r>
              <a:rPr lang="en-US" b="0" i="0" dirty="0">
                <a:solidFill>
                  <a:schemeClr val="tx1"/>
                </a:solidFill>
                <a:effectLst/>
                <a:latin typeface="+mj-lt"/>
              </a:rPr>
              <a:t>).</a:t>
            </a:r>
          </a:p>
          <a:p>
            <a:pPr marL="742950" lvl="1" indent="-285750">
              <a:lnSpc>
                <a:spcPct val="150000"/>
              </a:lnSpc>
            </a:pPr>
            <a:r>
              <a:rPr lang="en-US" b="0" i="0" dirty="0">
                <a:solidFill>
                  <a:schemeClr val="tx1"/>
                </a:solidFill>
                <a:effectLst/>
                <a:latin typeface="+mj-lt"/>
              </a:rPr>
              <a:t>Integrated real-time </a:t>
            </a:r>
            <a:r>
              <a:rPr lang="en-US" b="1" i="0" dirty="0">
                <a:solidFill>
                  <a:schemeClr val="tx1"/>
                </a:solidFill>
                <a:effectLst/>
                <a:latin typeface="+mj-lt"/>
              </a:rPr>
              <a:t>progress visualizations</a:t>
            </a:r>
            <a:r>
              <a:rPr lang="en-US" b="0" i="0" dirty="0">
                <a:solidFill>
                  <a:schemeClr val="tx1"/>
                </a:solidFill>
                <a:effectLst/>
                <a:latin typeface="+mj-lt"/>
              </a:rPr>
              <a:t> for order fulfillment.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Type of Engagement</a:t>
            </a:r>
          </a:p>
        </p:txBody>
      </p:sp>
      <p:sp>
        <p:nvSpPr>
          <p:cNvPr id="3" name="Text Placeholder 2"/>
          <p:cNvSpPr>
            <a:spLocks noGrp="1"/>
          </p:cNvSpPr>
          <p:nvPr>
            <p:ph type="body" idx="1"/>
          </p:nvPr>
        </p:nvSpPr>
        <p:spPr>
          <a:xfrm>
            <a:off x="311700" y="923875"/>
            <a:ext cx="8520600" cy="3878584"/>
          </a:xfrm>
        </p:spPr>
        <p:txBody>
          <a:bodyPr wrap="square"/>
          <a:lstStyle/>
          <a:p>
            <a:pPr>
              <a:buFont typeface="Arial" panose="020B0604020202020204" pitchFamily="34" charset="0"/>
              <a:buChar char="•"/>
            </a:pPr>
            <a:r>
              <a:rPr lang="en-US" b="1" i="0" dirty="0">
                <a:effectLst/>
                <a:latin typeface="+mj-lt"/>
              </a:rPr>
              <a:t>Engagement:</a:t>
            </a:r>
            <a:r>
              <a:rPr lang="en-US" b="0" i="0" dirty="0">
                <a:effectLst/>
                <a:latin typeface="+mj-lt"/>
              </a:rPr>
              <a:t> Full-time Industrial Internship.</a:t>
            </a:r>
          </a:p>
          <a:p>
            <a:pPr>
              <a:buFont typeface="Arial" panose="020B0604020202020204" pitchFamily="34" charset="0"/>
              <a:buChar char="•"/>
            </a:pPr>
            <a:r>
              <a:rPr lang="en-US" b="1" i="0" dirty="0">
                <a:effectLst/>
                <a:latin typeface="+mj-lt"/>
              </a:rPr>
              <a:t>Timeline:</a:t>
            </a:r>
            <a:r>
              <a:rPr lang="en-US" b="0" i="0" dirty="0">
                <a:effectLst/>
                <a:latin typeface="+mj-lt"/>
              </a:rPr>
              <a:t> 10:00 AM to 6:00 PM (Monday – Saturday).</a:t>
            </a:r>
          </a:p>
          <a:p>
            <a:pPr>
              <a:buFont typeface="Arial" panose="020B0604020202020204" pitchFamily="34" charset="0"/>
              <a:buChar char="•"/>
            </a:pPr>
            <a:r>
              <a:rPr lang="en-US" b="1" i="0" dirty="0">
                <a:effectLst/>
                <a:latin typeface="+mj-lt"/>
              </a:rPr>
              <a:t>Daily Effort:</a:t>
            </a:r>
            <a:r>
              <a:rPr lang="en-US" b="0" i="0" dirty="0">
                <a:effectLst/>
                <a:latin typeface="+mj-lt"/>
              </a:rPr>
              <a:t> 7–8 active development hours per day.</a:t>
            </a:r>
          </a:p>
          <a:p>
            <a:pPr>
              <a:buFont typeface="Arial" panose="020B0604020202020204" pitchFamily="34" charset="0"/>
              <a:buChar char="•"/>
            </a:pPr>
            <a:r>
              <a:rPr lang="en-US" b="1" i="0" dirty="0">
                <a:effectLst/>
                <a:latin typeface="+mj-lt"/>
              </a:rPr>
              <a:t>Methodology:</a:t>
            </a:r>
            <a:r>
              <a:rPr lang="en-US" b="0" i="0" dirty="0">
                <a:effectLst/>
                <a:latin typeface="+mj-lt"/>
              </a:rPr>
              <a:t> Followed Agile Sprints with daily progress tracking and mentor-led technical reviews.</a:t>
            </a:r>
          </a:p>
        </p:txBody>
      </p:sp>
      <p:sp>
        <p:nvSpPr>
          <p:cNvPr id="6" name="Google Shape;37;p5">
            <a:extLst>
              <a:ext uri="{FF2B5EF4-FFF2-40B4-BE49-F238E27FC236}">
                <a16:creationId xmlns:a16="http://schemas.microsoft.com/office/drawing/2014/main" id="{C3B75DEB-BF47-3F09-EBFF-AC9BD1B2968D}"/>
              </a:ext>
            </a:extLst>
          </p:cNvPr>
          <p:cNvSpPr txBox="1">
            <a:spLocks/>
          </p:cNvSpPr>
          <p:nvPr/>
        </p:nvSpPr>
        <p:spPr>
          <a:xfrm>
            <a:off x="438080" y="2274849"/>
            <a:ext cx="3412808" cy="264987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400" b="0" i="0" u="none" strike="noStrike" cap="none">
                <a:solidFill>
                  <a:schemeClr val="tx1"/>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40495" indent="0" algn="ctr">
              <a:buSzPct val="83333"/>
              <a:buFont typeface="Arial"/>
              <a:buNone/>
            </a:pPr>
            <a:endParaRPr lang="en-IN" sz="1800" dirty="0"/>
          </a:p>
          <a:p>
            <a:pPr marL="140495" indent="0" algn="ctr">
              <a:buSzPct val="83333"/>
              <a:buFont typeface="Arial"/>
              <a:buNone/>
            </a:pPr>
            <a:endParaRPr lang="en-IN" sz="1800" dirty="0"/>
          </a:p>
          <a:p>
            <a:pPr marL="140495" indent="0" algn="ctr">
              <a:buSzPct val="83333"/>
              <a:buFont typeface="Arial"/>
              <a:buNone/>
            </a:pPr>
            <a:endParaRPr lang="en-IN" sz="1800" dirty="0"/>
          </a:p>
          <a:p>
            <a:pPr marL="140495" indent="0" algn="ctr">
              <a:buSzPct val="83333"/>
              <a:buFont typeface="Arial"/>
              <a:buNone/>
            </a:pPr>
            <a:r>
              <a:rPr lang="en-IN" sz="1800" dirty="0"/>
              <a:t>Total Hours</a:t>
            </a:r>
          </a:p>
          <a:p>
            <a:pPr marL="140495" indent="0" algn="ctr">
              <a:buSzPct val="83333"/>
              <a:buFont typeface="Arial"/>
              <a:buNone/>
            </a:pPr>
            <a:r>
              <a:rPr lang="en-IN" sz="1800" b="1" dirty="0"/>
              <a:t>7 – 8 hours per day</a:t>
            </a:r>
          </a:p>
        </p:txBody>
      </p:sp>
      <p:pic>
        <p:nvPicPr>
          <p:cNvPr id="7" name="Picture 6">
            <a:extLst>
              <a:ext uri="{FF2B5EF4-FFF2-40B4-BE49-F238E27FC236}">
                <a16:creationId xmlns:a16="http://schemas.microsoft.com/office/drawing/2014/main" id="{F2F19681-A106-676D-AC6B-C448428BDA2C}"/>
              </a:ext>
            </a:extLst>
          </p:cNvPr>
          <p:cNvPicPr>
            <a:picLocks noChangeAspect="1"/>
          </p:cNvPicPr>
          <p:nvPr/>
        </p:nvPicPr>
        <p:blipFill>
          <a:blip r:embed="rId2"/>
          <a:stretch>
            <a:fillRect/>
          </a:stretch>
        </p:blipFill>
        <p:spPr>
          <a:xfrm>
            <a:off x="1672684" y="2546133"/>
            <a:ext cx="1070052" cy="1070052"/>
          </a:xfrm>
          <a:prstGeom prst="rect">
            <a:avLst/>
          </a:prstGeom>
        </p:spPr>
      </p:pic>
      <p:sp>
        <p:nvSpPr>
          <p:cNvPr id="12" name="Google Shape;37;p5">
            <a:extLst>
              <a:ext uri="{FF2B5EF4-FFF2-40B4-BE49-F238E27FC236}">
                <a16:creationId xmlns:a16="http://schemas.microsoft.com/office/drawing/2014/main" id="{ACDB9862-80B4-74FD-0DFD-F3E2BE51FD90}"/>
              </a:ext>
            </a:extLst>
          </p:cNvPr>
          <p:cNvSpPr txBox="1">
            <a:spLocks/>
          </p:cNvSpPr>
          <p:nvPr/>
        </p:nvSpPr>
        <p:spPr>
          <a:xfrm>
            <a:off x="5194532" y="4219625"/>
            <a:ext cx="3955500" cy="300213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40495" indent="0" algn="ctr">
              <a:buSzPct val="83333"/>
              <a:buFont typeface="Arial"/>
              <a:buNone/>
            </a:pPr>
            <a:endParaRPr lang="en-US" dirty="0"/>
          </a:p>
          <a:p>
            <a:pPr marL="140495" indent="0" algn="ctr">
              <a:buSzPct val="83333"/>
              <a:buFont typeface="Arial"/>
              <a:buNone/>
            </a:pPr>
            <a:endParaRPr lang="en-US" dirty="0"/>
          </a:p>
          <a:p>
            <a:pPr marL="140495" indent="0" algn="ctr">
              <a:buSzPct val="83333"/>
              <a:buFont typeface="Arial"/>
              <a:buNone/>
            </a:pPr>
            <a:endParaRPr lang="en-US" dirty="0"/>
          </a:p>
          <a:p>
            <a:pPr marL="140495" indent="0" algn="ctr">
              <a:buSzPct val="83333"/>
              <a:buFont typeface="Arial"/>
              <a:buNone/>
            </a:pPr>
            <a:endParaRPr lang="en-US" dirty="0"/>
          </a:p>
          <a:p>
            <a:pPr marL="140495" indent="0" algn="ctr">
              <a:buSzPct val="83333"/>
              <a:buFont typeface="Arial"/>
              <a:buNone/>
            </a:pPr>
            <a:r>
              <a:rPr lang="en-US" dirty="0"/>
              <a:t>Timing</a:t>
            </a:r>
          </a:p>
          <a:p>
            <a:pPr marL="140495" indent="0" algn="ctr">
              <a:buSzPct val="83333"/>
              <a:buNone/>
            </a:pPr>
            <a:r>
              <a:rPr lang="en-US" b="1" dirty="0"/>
              <a:t>10:00 AM to 6:00 PM </a:t>
            </a:r>
          </a:p>
        </p:txBody>
      </p:sp>
      <p:pic>
        <p:nvPicPr>
          <p:cNvPr id="13" name="Picture 12" descr="A black and white image of a calendar">
            <a:extLst>
              <a:ext uri="{FF2B5EF4-FFF2-40B4-BE49-F238E27FC236}">
                <a16:creationId xmlns:a16="http://schemas.microsoft.com/office/drawing/2014/main" id="{D5439954-98ED-CF20-E78D-759A1793CE37}"/>
              </a:ext>
            </a:extLst>
          </p:cNvPr>
          <p:cNvPicPr>
            <a:picLocks noChangeAspect="1"/>
          </p:cNvPicPr>
          <p:nvPr/>
        </p:nvPicPr>
        <p:blipFill>
          <a:blip r:embed="rId3"/>
          <a:stretch>
            <a:fillRect/>
          </a:stretch>
        </p:blipFill>
        <p:spPr>
          <a:xfrm>
            <a:off x="5724827" y="2274849"/>
            <a:ext cx="2020150" cy="1422593"/>
          </a:xfrm>
          <a:prstGeom prst="rect">
            <a:avLst/>
          </a:prstGeom>
        </p:spPr>
      </p:pic>
      <p:sp>
        <p:nvSpPr>
          <p:cNvPr id="14" name="Google Shape;37;p5">
            <a:extLst>
              <a:ext uri="{FF2B5EF4-FFF2-40B4-BE49-F238E27FC236}">
                <a16:creationId xmlns:a16="http://schemas.microsoft.com/office/drawing/2014/main" id="{13C9C3BB-8D6C-FF35-3226-8844261D76D1}"/>
              </a:ext>
            </a:extLst>
          </p:cNvPr>
          <p:cNvSpPr txBox="1">
            <a:spLocks/>
          </p:cNvSpPr>
          <p:nvPr/>
        </p:nvSpPr>
        <p:spPr>
          <a:xfrm>
            <a:off x="4698915" y="3495476"/>
            <a:ext cx="3955500" cy="1045383"/>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40495" indent="0" algn="ctr">
              <a:spcAft>
                <a:spcPts val="300"/>
              </a:spcAft>
              <a:buSzPct val="83333"/>
              <a:buFont typeface="Arial"/>
              <a:buNone/>
            </a:pPr>
            <a:r>
              <a:rPr lang="en-US" dirty="0"/>
              <a:t>Timing</a:t>
            </a:r>
          </a:p>
          <a:p>
            <a:pPr marL="140495" indent="0" algn="ctr">
              <a:spcAft>
                <a:spcPts val="300"/>
              </a:spcAft>
              <a:buSzPct val="83333"/>
              <a:buNone/>
            </a:pPr>
            <a:r>
              <a:rPr lang="en-US" b="1" dirty="0"/>
              <a:t>10:00 AM to 6:00 PM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1 (Jan 1-7)</a:t>
            </a:r>
          </a:p>
        </p:txBody>
      </p:sp>
      <p:sp>
        <p:nvSpPr>
          <p:cNvPr id="3" name="Text Placeholder 2"/>
          <p:cNvSpPr>
            <a:spLocks noGrp="1"/>
          </p:cNvSpPr>
          <p:nvPr>
            <p:ph type="body" idx="1"/>
          </p:nvPr>
        </p:nvSpPr>
        <p:spPr>
          <a:xfrm>
            <a:off x="311700" y="923875"/>
            <a:ext cx="8520600" cy="3789374"/>
          </a:xfrm>
        </p:spPr>
        <p:txBody>
          <a:bodyPr wrap="square"/>
          <a:lstStyle/>
          <a:p>
            <a:pPr marL="114300" indent="0" algn="just">
              <a:lnSpc>
                <a:spcPct val="150000"/>
              </a:lnSpc>
              <a:buNone/>
            </a:pPr>
            <a:r>
              <a:rPr lang="en-US" i="0" dirty="0">
                <a:effectLst/>
                <a:latin typeface="+mj-lt"/>
              </a:rPr>
              <a:t>This week, I focused on the foundational stages of the </a:t>
            </a:r>
            <a:r>
              <a:rPr lang="en-US" i="0" dirty="0" err="1">
                <a:effectLst/>
                <a:latin typeface="+mj-lt"/>
              </a:rPr>
              <a:t>ThreadTrack</a:t>
            </a:r>
            <a:r>
              <a:rPr lang="en-US" i="0" dirty="0">
                <a:effectLst/>
                <a:latin typeface="+mj-lt"/>
              </a:rPr>
              <a:t> project. I spent the initial days onboarding at Inside InfoTech Solutions and discussing the project vision with my mentor, Mr. Jagdish </a:t>
            </a:r>
            <a:r>
              <a:rPr lang="en-US" i="0" dirty="0" err="1">
                <a:effectLst/>
                <a:latin typeface="+mj-lt"/>
              </a:rPr>
              <a:t>Baldaniya</a:t>
            </a:r>
            <a:r>
              <a:rPr lang="en-US" i="0" dirty="0">
                <a:effectLst/>
                <a:latin typeface="+mj-lt"/>
              </a:rPr>
              <a:t>. We analyzed the existing manual processes in the garment manufacturing sector to identify critical pain points, such as inventory stockouts and lack of order transparency for B2B buyers. By the end of the week, I had established a clear set of goals and a well-defined project scope for development.</a:t>
            </a:r>
          </a:p>
          <a:p>
            <a:pPr marL="114300" indent="0">
              <a:lnSpc>
                <a:spcPct val="150000"/>
              </a:lnSpc>
              <a:buNone/>
            </a:pPr>
            <a:endParaRPr lang="en-US" i="0" dirty="0">
              <a:effectLst/>
              <a:latin typeface="+mj-lt"/>
            </a:endParaRPr>
          </a:p>
          <a:p>
            <a:pPr>
              <a:lnSpc>
                <a:spcPct val="150000"/>
              </a:lnSpc>
            </a:pPr>
            <a:r>
              <a:rPr lang="en-US" b="1" i="0" dirty="0">
                <a:effectLst/>
                <a:latin typeface="+mj-lt"/>
              </a:rPr>
              <a:t>Project Orientation &amp; Scoping:</a:t>
            </a:r>
            <a:endParaRPr lang="en-US" b="0" i="0" dirty="0">
              <a:effectLst/>
              <a:latin typeface="+mj-lt"/>
            </a:endParaRPr>
          </a:p>
          <a:p>
            <a:pPr marL="742950" lvl="1" indent="-285750">
              <a:lnSpc>
                <a:spcPct val="150000"/>
              </a:lnSpc>
            </a:pPr>
            <a:r>
              <a:rPr lang="en-US" b="0" i="0" dirty="0">
                <a:solidFill>
                  <a:schemeClr val="tx1"/>
                </a:solidFill>
                <a:effectLst/>
                <a:latin typeface="+mj-lt"/>
              </a:rPr>
              <a:t>Analyzed industrial supply chain bottlenecks in local manufacturing units.</a:t>
            </a:r>
          </a:p>
          <a:p>
            <a:pPr marL="742950" lvl="1" indent="-285750">
              <a:lnSpc>
                <a:spcPct val="150000"/>
              </a:lnSpc>
            </a:pPr>
            <a:r>
              <a:rPr lang="en-US" b="0" i="0" dirty="0">
                <a:solidFill>
                  <a:schemeClr val="tx1"/>
                </a:solidFill>
                <a:effectLst/>
                <a:latin typeface="+mj-lt"/>
              </a:rPr>
              <a:t>Defined role-based requirements for Factory Admin, Worker, and Buyer portals.</a:t>
            </a:r>
          </a:p>
          <a:p>
            <a:pPr marL="742950" lvl="1" indent="-285750">
              <a:lnSpc>
                <a:spcPct val="150000"/>
              </a:lnSpc>
            </a:pPr>
            <a:r>
              <a:rPr lang="en-US" b="0" i="0" dirty="0">
                <a:solidFill>
                  <a:schemeClr val="tx1"/>
                </a:solidFill>
                <a:effectLst/>
                <a:latin typeface="+mj-lt"/>
              </a:rPr>
              <a:t>Conducted a technical feasibility study for integrating AI-driven stock forecasting.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2 (Jan 8-14)</a:t>
            </a:r>
          </a:p>
        </p:txBody>
      </p:sp>
      <p:sp>
        <p:nvSpPr>
          <p:cNvPr id="3" name="Text Placeholder 2"/>
          <p:cNvSpPr>
            <a:spLocks noGrp="1"/>
          </p:cNvSpPr>
          <p:nvPr>
            <p:ph type="body" idx="1"/>
          </p:nvPr>
        </p:nvSpPr>
        <p:spPr>
          <a:xfrm>
            <a:off x="311700" y="923874"/>
            <a:ext cx="8520600" cy="3670427"/>
          </a:xfrm>
        </p:spPr>
        <p:txBody>
          <a:bodyPr wrap="square">
            <a:normAutofit/>
          </a:bodyPr>
          <a:lstStyle/>
          <a:p>
            <a:pPr marL="114300" indent="0" algn="just">
              <a:lnSpc>
                <a:spcPct val="150000"/>
              </a:lnSpc>
              <a:buNone/>
            </a:pPr>
            <a:r>
              <a:rPr lang="en-US" i="0" dirty="0">
                <a:effectLst/>
                <a:latin typeface="+mj-lt"/>
              </a:rPr>
              <a:t>During the second week, I transitioned from conceptual requirements to technical system design. I mapped out the complex workflows for each user role and created initial UI wireframes for the mobile application to ensure a user-friendly experience. A significant portion of the week was dedicated to architecting the relational database schema in MSSQL Server, focusing on maintaining high data integrity and establishing efficient relationships between raw materials, products, and logs.</a:t>
            </a:r>
          </a:p>
          <a:p>
            <a:pPr marL="114300" indent="0">
              <a:lnSpc>
                <a:spcPct val="150000"/>
              </a:lnSpc>
              <a:buNone/>
            </a:pPr>
            <a:endParaRPr lang="en-US" b="0" i="0" dirty="0">
              <a:effectLst/>
              <a:latin typeface="+mj-lt"/>
            </a:endParaRPr>
          </a:p>
          <a:p>
            <a:pPr>
              <a:lnSpc>
                <a:spcPct val="150000"/>
              </a:lnSpc>
            </a:pPr>
            <a:r>
              <a:rPr lang="en-US" b="1" i="0" dirty="0">
                <a:effectLst/>
                <a:latin typeface="+mj-lt"/>
              </a:rPr>
              <a:t>Architectural Design &amp; UI Wireframing:</a:t>
            </a:r>
            <a:endParaRPr lang="en-US" b="0" i="0" dirty="0">
              <a:effectLst/>
              <a:latin typeface="+mj-lt"/>
            </a:endParaRPr>
          </a:p>
          <a:p>
            <a:pPr marL="742950" lvl="1" indent="-285750">
              <a:lnSpc>
                <a:spcPct val="150000"/>
              </a:lnSpc>
            </a:pPr>
            <a:r>
              <a:rPr lang="en-US" b="0" i="0" dirty="0">
                <a:solidFill>
                  <a:schemeClr val="tx1"/>
                </a:solidFill>
                <a:effectLst/>
                <a:latin typeface="+mj-lt"/>
              </a:rPr>
              <a:t>Created stakeholder workflow diagrams for production and order fulfillment.</a:t>
            </a:r>
          </a:p>
          <a:p>
            <a:pPr marL="742950" lvl="1" indent="-285750">
              <a:lnSpc>
                <a:spcPct val="150000"/>
              </a:lnSpc>
            </a:pPr>
            <a:r>
              <a:rPr lang="en-US" b="0" i="0" dirty="0">
                <a:solidFill>
                  <a:schemeClr val="tx1"/>
                </a:solidFill>
                <a:effectLst/>
                <a:latin typeface="+mj-lt"/>
              </a:rPr>
              <a:t>Designed a normalized SQL schema including tables for Users, Raw Materials, and Orders.</a:t>
            </a:r>
          </a:p>
          <a:p>
            <a:pPr marL="742950" lvl="1" indent="-285750">
              <a:lnSpc>
                <a:spcPct val="150000"/>
              </a:lnSpc>
            </a:pPr>
            <a:r>
              <a:rPr lang="en-US" b="0" i="0" dirty="0">
                <a:solidFill>
                  <a:schemeClr val="tx1"/>
                </a:solidFill>
                <a:effectLst/>
                <a:latin typeface="+mj-lt"/>
              </a:rPr>
              <a:t>Developed conceptual mobile wireframes following Material Design 3 guidelines.</a:t>
            </a:r>
          </a:p>
          <a:p>
            <a:pPr>
              <a:lnSpc>
                <a:spcPct val="150000"/>
              </a:lnSpc>
              <a:spcAft>
                <a:spcPts val="1000"/>
              </a:spcAft>
            </a:pPr>
            <a:endParaRPr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2 (Jan 8-14)</a:t>
            </a:r>
          </a:p>
        </p:txBody>
      </p:sp>
      <p:pic>
        <p:nvPicPr>
          <p:cNvPr id="5" name="Picture 4" descr="A screenshot of a computer&#10;&#10;AI-generated content may be incorrect.">
            <a:extLst>
              <a:ext uri="{FF2B5EF4-FFF2-40B4-BE49-F238E27FC236}">
                <a16:creationId xmlns:a16="http://schemas.microsoft.com/office/drawing/2014/main" id="{C2BEA6C4-DB66-081D-EF09-4EC9E5D78A57}"/>
              </a:ext>
            </a:extLst>
          </p:cNvPr>
          <p:cNvPicPr>
            <a:picLocks noChangeAspect="1"/>
          </p:cNvPicPr>
          <p:nvPr/>
        </p:nvPicPr>
        <p:blipFill>
          <a:blip r:embed="rId2"/>
          <a:stretch>
            <a:fillRect/>
          </a:stretch>
        </p:blipFill>
        <p:spPr>
          <a:xfrm>
            <a:off x="455288" y="1056759"/>
            <a:ext cx="3663230" cy="572700"/>
          </a:xfrm>
          <a:prstGeom prst="rect">
            <a:avLst/>
          </a:prstGeom>
        </p:spPr>
      </p:pic>
      <p:pic>
        <p:nvPicPr>
          <p:cNvPr id="7" name="Picture 6" descr="A screenshot of a data&#10;&#10;AI-generated content may be incorrect.">
            <a:extLst>
              <a:ext uri="{FF2B5EF4-FFF2-40B4-BE49-F238E27FC236}">
                <a16:creationId xmlns:a16="http://schemas.microsoft.com/office/drawing/2014/main" id="{1E800D99-5C86-6EC7-855A-DA8C1F3FEE55}"/>
              </a:ext>
            </a:extLst>
          </p:cNvPr>
          <p:cNvPicPr>
            <a:picLocks noChangeAspect="1"/>
          </p:cNvPicPr>
          <p:nvPr/>
        </p:nvPicPr>
        <p:blipFill>
          <a:blip r:embed="rId3"/>
          <a:stretch>
            <a:fillRect/>
          </a:stretch>
        </p:blipFill>
        <p:spPr>
          <a:xfrm>
            <a:off x="2596322" y="1765134"/>
            <a:ext cx="3663230" cy="2714006"/>
          </a:xfrm>
          <a:prstGeom prst="rect">
            <a:avLst/>
          </a:prstGeom>
        </p:spPr>
      </p:pic>
      <p:pic>
        <p:nvPicPr>
          <p:cNvPr id="9" name="Picture 8">
            <a:extLst>
              <a:ext uri="{FF2B5EF4-FFF2-40B4-BE49-F238E27FC236}">
                <a16:creationId xmlns:a16="http://schemas.microsoft.com/office/drawing/2014/main" id="{1BB84110-6139-5E5A-8A4A-1BFA525D9D9C}"/>
              </a:ext>
            </a:extLst>
          </p:cNvPr>
          <p:cNvPicPr>
            <a:picLocks noChangeAspect="1"/>
          </p:cNvPicPr>
          <p:nvPr/>
        </p:nvPicPr>
        <p:blipFill>
          <a:blip r:embed="rId4"/>
          <a:stretch>
            <a:fillRect/>
          </a:stretch>
        </p:blipFill>
        <p:spPr>
          <a:xfrm>
            <a:off x="4311806" y="1056760"/>
            <a:ext cx="4300664" cy="572700"/>
          </a:xfrm>
          <a:prstGeom prst="rect">
            <a:avLst/>
          </a:prstGeom>
        </p:spPr>
      </p:pic>
    </p:spTree>
    <p:extLst>
      <p:ext uri="{BB962C8B-B14F-4D97-AF65-F5344CB8AC3E}">
        <p14:creationId xmlns:p14="http://schemas.microsoft.com/office/powerpoint/2010/main" val="1229677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Weekly Diary – Week 3 (Jan 15</a:t>
            </a:r>
            <a:r>
              <a:rPr lang="en-US" dirty="0"/>
              <a:t> </a:t>
            </a:r>
            <a:r>
              <a:rPr dirty="0"/>
              <a:t>-</a:t>
            </a:r>
            <a:r>
              <a:rPr lang="en-US" dirty="0"/>
              <a:t> </a:t>
            </a:r>
            <a:r>
              <a:rPr dirty="0"/>
              <a:t>21)</a:t>
            </a:r>
          </a:p>
        </p:txBody>
      </p:sp>
      <p:sp>
        <p:nvSpPr>
          <p:cNvPr id="3" name="Text Placeholder 2"/>
          <p:cNvSpPr>
            <a:spLocks noGrp="1"/>
          </p:cNvSpPr>
          <p:nvPr>
            <p:ph type="body" idx="1"/>
          </p:nvPr>
        </p:nvSpPr>
        <p:spPr>
          <a:xfrm>
            <a:off x="311700" y="923874"/>
            <a:ext cx="8520600" cy="3826545"/>
          </a:xfrm>
        </p:spPr>
        <p:txBody>
          <a:bodyPr wrap="square">
            <a:normAutofit/>
          </a:bodyPr>
          <a:lstStyle/>
          <a:p>
            <a:pPr marL="114300" indent="0" algn="just">
              <a:lnSpc>
                <a:spcPct val="150000"/>
              </a:lnSpc>
              <a:buNone/>
            </a:pPr>
            <a:r>
              <a:rPr lang="en-US" i="0" dirty="0">
                <a:effectLst/>
                <a:latin typeface="+mj-lt"/>
              </a:rPr>
              <a:t>This week was dedicated to building the core backend infrastructure using Node.js and Express.js. I focused on setting up a secure development environment and implementing the system's authentication layer. I integrated JSON Web Tokens (JWT) to manage secure user sessions and created specialized middleware to enforce role-based access control. This ensures that only authorized users, such as factory owners, can access sensitive inventory analytics and private business data.</a:t>
            </a:r>
          </a:p>
          <a:p>
            <a:pPr marL="114300" indent="0" algn="just">
              <a:lnSpc>
                <a:spcPct val="150000"/>
              </a:lnSpc>
              <a:buNone/>
            </a:pPr>
            <a:endParaRPr lang="en-US" b="0" i="0" dirty="0">
              <a:effectLst/>
              <a:latin typeface="+mj-lt"/>
            </a:endParaRPr>
          </a:p>
          <a:p>
            <a:pPr algn="just">
              <a:lnSpc>
                <a:spcPct val="150000"/>
              </a:lnSpc>
            </a:pPr>
            <a:r>
              <a:rPr lang="en-US" b="1" i="0" dirty="0">
                <a:effectLst/>
                <a:latin typeface="+mj-lt"/>
              </a:rPr>
              <a:t>Backend Foundations &amp; Authentication:</a:t>
            </a:r>
            <a:endParaRPr lang="en-US" b="0" i="0" dirty="0">
              <a:effectLst/>
              <a:latin typeface="+mj-lt"/>
            </a:endParaRPr>
          </a:p>
          <a:p>
            <a:pPr marL="742950" lvl="1" indent="-285750" algn="just">
              <a:lnSpc>
                <a:spcPct val="150000"/>
              </a:lnSpc>
            </a:pPr>
            <a:r>
              <a:rPr lang="en-US" b="0" i="0" dirty="0">
                <a:solidFill>
                  <a:schemeClr val="tx1"/>
                </a:solidFill>
                <a:effectLst/>
                <a:latin typeface="+mj-lt"/>
              </a:rPr>
              <a:t>Initialized the Express server and configured the professional RESTful directory structure.</a:t>
            </a:r>
          </a:p>
          <a:p>
            <a:pPr marL="742950" lvl="1" indent="-285750" algn="just">
              <a:lnSpc>
                <a:spcPct val="150000"/>
              </a:lnSpc>
            </a:pPr>
            <a:r>
              <a:rPr lang="en-US" b="0" i="0" dirty="0">
                <a:solidFill>
                  <a:schemeClr val="tx1"/>
                </a:solidFill>
                <a:effectLst/>
                <a:latin typeface="+mj-lt"/>
              </a:rPr>
              <a:t>Developed secure Login and Registration endpoints using </a:t>
            </a:r>
            <a:r>
              <a:rPr lang="en-US" b="0" i="0" dirty="0" err="1">
                <a:solidFill>
                  <a:schemeClr val="tx1"/>
                </a:solidFill>
                <a:effectLst/>
                <a:latin typeface="+mj-lt"/>
              </a:rPr>
              <a:t>Bcrypt</a:t>
            </a:r>
            <a:r>
              <a:rPr lang="en-US" b="0" i="0" dirty="0">
                <a:solidFill>
                  <a:schemeClr val="tx1"/>
                </a:solidFill>
                <a:effectLst/>
                <a:latin typeface="+mj-lt"/>
              </a:rPr>
              <a:t> for password hashing.</a:t>
            </a:r>
          </a:p>
          <a:p>
            <a:pPr marL="742950" lvl="1" indent="-285750" algn="just">
              <a:lnSpc>
                <a:spcPct val="150000"/>
              </a:lnSpc>
            </a:pPr>
            <a:r>
              <a:rPr lang="en-US" b="0" i="0" dirty="0">
                <a:solidFill>
                  <a:schemeClr val="tx1"/>
                </a:solidFill>
                <a:effectLst/>
                <a:latin typeface="+mj-lt"/>
              </a:rPr>
              <a:t>Implemented JWT-based session management and Role-Based Access Control (RBAC).</a:t>
            </a:r>
          </a:p>
          <a:p>
            <a:pPr algn="just">
              <a:lnSpc>
                <a:spcPct val="150000"/>
              </a:lnSpc>
              <a:spcAft>
                <a:spcPts val="1000"/>
              </a:spcAft>
            </a:pPr>
            <a:endParaRPr lang="en-US"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Weekly Diary – Week 3 (Jan 15</a:t>
            </a:r>
            <a:r>
              <a:rPr lang="en-US" dirty="0"/>
              <a:t> </a:t>
            </a:r>
            <a:r>
              <a:rPr dirty="0"/>
              <a:t>-</a:t>
            </a:r>
            <a:r>
              <a:rPr lang="en-US" dirty="0"/>
              <a:t> </a:t>
            </a:r>
            <a:r>
              <a:rPr dirty="0"/>
              <a:t>21)</a:t>
            </a:r>
          </a:p>
        </p:txBody>
      </p:sp>
      <p:pic>
        <p:nvPicPr>
          <p:cNvPr id="7" name="Picture 6">
            <a:extLst>
              <a:ext uri="{FF2B5EF4-FFF2-40B4-BE49-F238E27FC236}">
                <a16:creationId xmlns:a16="http://schemas.microsoft.com/office/drawing/2014/main" id="{C96949A6-A1FC-A74C-0EAE-BD9F1CD380F4}"/>
              </a:ext>
            </a:extLst>
          </p:cNvPr>
          <p:cNvPicPr>
            <a:picLocks noChangeAspect="1"/>
          </p:cNvPicPr>
          <p:nvPr/>
        </p:nvPicPr>
        <p:blipFill>
          <a:blip r:embed="rId2"/>
          <a:stretch>
            <a:fillRect/>
          </a:stretch>
        </p:blipFill>
        <p:spPr>
          <a:xfrm>
            <a:off x="735980" y="1499373"/>
            <a:ext cx="4244898" cy="2387755"/>
          </a:xfrm>
          <a:prstGeom prst="rect">
            <a:avLst/>
          </a:prstGeom>
        </p:spPr>
      </p:pic>
      <p:pic>
        <p:nvPicPr>
          <p:cNvPr id="11" name="Picture 10" descr="A screenshot of a login form&#10;&#10;AI-generated content may be incorrect.">
            <a:extLst>
              <a:ext uri="{FF2B5EF4-FFF2-40B4-BE49-F238E27FC236}">
                <a16:creationId xmlns:a16="http://schemas.microsoft.com/office/drawing/2014/main" id="{F289E4CB-D821-F086-33B2-74DEFC5409AB}"/>
              </a:ext>
            </a:extLst>
          </p:cNvPr>
          <p:cNvPicPr>
            <a:picLocks noChangeAspect="1"/>
          </p:cNvPicPr>
          <p:nvPr/>
        </p:nvPicPr>
        <p:blipFill>
          <a:blip r:embed="rId3"/>
          <a:stretch>
            <a:fillRect/>
          </a:stretch>
        </p:blipFill>
        <p:spPr>
          <a:xfrm>
            <a:off x="5752012" y="1167160"/>
            <a:ext cx="1715584" cy="3678974"/>
          </a:xfrm>
          <a:prstGeom prst="rect">
            <a:avLst/>
          </a:prstGeom>
        </p:spPr>
      </p:pic>
    </p:spTree>
    <p:extLst>
      <p:ext uri="{BB962C8B-B14F-4D97-AF65-F5344CB8AC3E}">
        <p14:creationId xmlns:p14="http://schemas.microsoft.com/office/powerpoint/2010/main" val="2076615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4 (Jan 22-28)</a:t>
            </a:r>
          </a:p>
        </p:txBody>
      </p:sp>
      <p:sp>
        <p:nvSpPr>
          <p:cNvPr id="3" name="Text Placeholder 2"/>
          <p:cNvSpPr>
            <a:spLocks noGrp="1"/>
          </p:cNvSpPr>
          <p:nvPr>
            <p:ph type="body" idx="1"/>
          </p:nvPr>
        </p:nvSpPr>
        <p:spPr>
          <a:xfrm>
            <a:off x="311700" y="923874"/>
            <a:ext cx="8520600" cy="3767071"/>
          </a:xfrm>
        </p:spPr>
        <p:txBody>
          <a:bodyPr wrap="square">
            <a:normAutofit/>
          </a:bodyPr>
          <a:lstStyle/>
          <a:p>
            <a:pPr marL="114300" indent="0" algn="just">
              <a:lnSpc>
                <a:spcPct val="150000"/>
              </a:lnSpc>
              <a:buNone/>
            </a:pPr>
            <a:r>
              <a:rPr lang="en-US" b="0" i="0" dirty="0">
                <a:effectLst/>
                <a:latin typeface="+mj-lt"/>
              </a:rPr>
              <a:t>In the fourth week, I focused on integrating the backend server with the SQL database and developing the core inventory management logic. I created various APIs to handle raw material operations and mapped complex "Bill of Materials" rules. This allows the system to understand exactly how much fabric or thread is used for each product. By the end of the week, the core logic for managing factory stock and tracking production goals was fully functional and ready for mobile integration.</a:t>
            </a:r>
          </a:p>
          <a:p>
            <a:pPr marL="114300" indent="0" algn="just">
              <a:lnSpc>
                <a:spcPct val="150000"/>
              </a:lnSpc>
              <a:buNone/>
            </a:pPr>
            <a:endParaRPr lang="en-US" dirty="0">
              <a:latin typeface="+mj-lt"/>
            </a:endParaRPr>
          </a:p>
          <a:p>
            <a:pPr algn="just">
              <a:lnSpc>
                <a:spcPct val="150000"/>
              </a:lnSpc>
            </a:pPr>
            <a:r>
              <a:rPr lang="en-US" b="1" i="0" dirty="0">
                <a:effectLst/>
                <a:latin typeface="+mj-lt"/>
              </a:rPr>
              <a:t>Database Integration &amp; CRUD Operations:</a:t>
            </a:r>
            <a:endParaRPr lang="en-US" b="0" i="0" dirty="0">
              <a:effectLst/>
              <a:latin typeface="+mj-lt"/>
            </a:endParaRPr>
          </a:p>
          <a:p>
            <a:pPr marL="742950" lvl="1" indent="-285750" algn="just">
              <a:lnSpc>
                <a:spcPct val="150000"/>
              </a:lnSpc>
            </a:pPr>
            <a:r>
              <a:rPr lang="en-US" b="0" i="0" dirty="0">
                <a:solidFill>
                  <a:schemeClr val="tx1"/>
                </a:solidFill>
                <a:effectLst/>
                <a:latin typeface="+mj-lt"/>
              </a:rPr>
              <a:t>Established secure connectivity between Node.js and MS SQL Server using the '</a:t>
            </a:r>
            <a:r>
              <a:rPr lang="en-US" b="0" i="0" dirty="0" err="1">
                <a:solidFill>
                  <a:schemeClr val="tx1"/>
                </a:solidFill>
                <a:effectLst/>
                <a:latin typeface="+mj-lt"/>
              </a:rPr>
              <a:t>mssql</a:t>
            </a:r>
            <a:r>
              <a:rPr lang="en-US" b="0" i="0" dirty="0">
                <a:solidFill>
                  <a:schemeClr val="tx1"/>
                </a:solidFill>
                <a:effectLst/>
                <a:latin typeface="+mj-lt"/>
              </a:rPr>
              <a:t>' library.</a:t>
            </a:r>
          </a:p>
          <a:p>
            <a:pPr marL="742950" lvl="1" indent="-285750" algn="just">
              <a:lnSpc>
                <a:spcPct val="150000"/>
              </a:lnSpc>
            </a:pPr>
            <a:r>
              <a:rPr lang="en-US" b="0" i="0" dirty="0">
                <a:solidFill>
                  <a:schemeClr val="tx1"/>
                </a:solidFill>
                <a:effectLst/>
                <a:latin typeface="+mj-lt"/>
              </a:rPr>
              <a:t>Developed CRUD modules for Raw Materials and Product-to-Material mapping logic.</a:t>
            </a:r>
          </a:p>
          <a:p>
            <a:pPr marL="742950" lvl="1" indent="-285750" algn="just">
              <a:lnSpc>
                <a:spcPct val="150000"/>
              </a:lnSpc>
            </a:pPr>
            <a:r>
              <a:rPr lang="en-US" b="0" i="0" dirty="0">
                <a:solidFill>
                  <a:schemeClr val="tx1"/>
                </a:solidFill>
                <a:effectLst/>
                <a:latin typeface="+mj-lt"/>
              </a:rPr>
              <a:t>Implemented the automated math logic for material consumption per unit of production.</a:t>
            </a:r>
          </a:p>
          <a:p>
            <a:pPr marL="114300" indent="0" algn="just">
              <a:lnSpc>
                <a:spcPct val="150000"/>
              </a:lnSpc>
              <a:spcAft>
                <a:spcPts val="1000"/>
              </a:spcAft>
              <a:buNone/>
            </a:pPr>
            <a:endParaRPr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4 (Jan 22-28)</a:t>
            </a:r>
          </a:p>
        </p:txBody>
      </p:sp>
      <p:pic>
        <p:nvPicPr>
          <p:cNvPr id="9" name="Picture 8">
            <a:extLst>
              <a:ext uri="{FF2B5EF4-FFF2-40B4-BE49-F238E27FC236}">
                <a16:creationId xmlns:a16="http://schemas.microsoft.com/office/drawing/2014/main" id="{05D6E0C5-1CE2-0545-74EA-5E48FF276402}"/>
              </a:ext>
            </a:extLst>
          </p:cNvPr>
          <p:cNvPicPr>
            <a:picLocks noChangeAspect="1"/>
          </p:cNvPicPr>
          <p:nvPr/>
        </p:nvPicPr>
        <p:blipFill>
          <a:blip r:embed="rId2"/>
          <a:stretch>
            <a:fillRect/>
          </a:stretch>
        </p:blipFill>
        <p:spPr>
          <a:xfrm>
            <a:off x="795455" y="1397619"/>
            <a:ext cx="4465442" cy="2511811"/>
          </a:xfrm>
          <a:prstGeom prst="rect">
            <a:avLst/>
          </a:prstGeom>
        </p:spPr>
      </p:pic>
      <p:pic>
        <p:nvPicPr>
          <p:cNvPr id="13" name="Picture 12" descr="Screenshot of a phone screen&#10;&#10;AI-generated content may be incorrect.">
            <a:extLst>
              <a:ext uri="{FF2B5EF4-FFF2-40B4-BE49-F238E27FC236}">
                <a16:creationId xmlns:a16="http://schemas.microsoft.com/office/drawing/2014/main" id="{46B4B7CA-1050-B73C-B0FE-A077EEEA98BC}"/>
              </a:ext>
            </a:extLst>
          </p:cNvPr>
          <p:cNvPicPr>
            <a:picLocks noChangeAspect="1"/>
          </p:cNvPicPr>
          <p:nvPr/>
        </p:nvPicPr>
        <p:blipFill>
          <a:blip r:embed="rId3"/>
          <a:stretch>
            <a:fillRect/>
          </a:stretch>
        </p:blipFill>
        <p:spPr>
          <a:xfrm>
            <a:off x="5934321" y="1033346"/>
            <a:ext cx="1626205" cy="3487307"/>
          </a:xfrm>
          <a:prstGeom prst="rect">
            <a:avLst/>
          </a:prstGeom>
        </p:spPr>
      </p:pic>
    </p:spTree>
    <p:extLst>
      <p:ext uri="{BB962C8B-B14F-4D97-AF65-F5344CB8AC3E}">
        <p14:creationId xmlns:p14="http://schemas.microsoft.com/office/powerpoint/2010/main" val="960481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5 (Jan 29-Feb 4)</a:t>
            </a:r>
          </a:p>
        </p:txBody>
      </p:sp>
      <p:sp>
        <p:nvSpPr>
          <p:cNvPr id="3" name="Text Placeholder 2"/>
          <p:cNvSpPr>
            <a:spLocks noGrp="1"/>
          </p:cNvSpPr>
          <p:nvPr>
            <p:ph type="body" idx="1"/>
          </p:nvPr>
        </p:nvSpPr>
        <p:spPr>
          <a:xfrm>
            <a:off x="311700" y="923874"/>
            <a:ext cx="8520600" cy="3856281"/>
          </a:xfrm>
        </p:spPr>
        <p:txBody>
          <a:bodyPr wrap="square">
            <a:normAutofit/>
          </a:bodyPr>
          <a:lstStyle/>
          <a:p>
            <a:pPr marL="114300" indent="0" algn="just">
              <a:lnSpc>
                <a:spcPct val="150000"/>
              </a:lnSpc>
              <a:buNone/>
            </a:pPr>
            <a:r>
              <a:rPr lang="en-US" b="0" i="0" dirty="0">
                <a:effectLst/>
                <a:latin typeface="+mj-lt"/>
              </a:rPr>
              <a:t>This week marked the start of the mobile development phase using </a:t>
            </a:r>
            <a:r>
              <a:rPr lang="en-US" b="1" i="0" dirty="0">
                <a:effectLst/>
                <a:latin typeface="+mj-lt"/>
              </a:rPr>
              <a:t>React Native and Expo</a:t>
            </a:r>
            <a:r>
              <a:rPr lang="en-US" b="0" i="0" dirty="0">
                <a:effectLst/>
                <a:latin typeface="+mj-lt"/>
              </a:rPr>
              <a:t>. I focused on building the shared UI components and setting up the global navigation hierarchy. I designed the primary dashboards for the Admin and Worker portals, emphasizing a clean and modern professional look. The priority was to create a simplified interface that floor workers could use easily, while still providing high-density data analytics for the management team.</a:t>
            </a:r>
          </a:p>
          <a:p>
            <a:pPr marL="114300" indent="0" algn="just">
              <a:lnSpc>
                <a:spcPct val="150000"/>
              </a:lnSpc>
              <a:buNone/>
            </a:pPr>
            <a:endParaRPr lang="en-US" dirty="0">
              <a:latin typeface="+mj-lt"/>
            </a:endParaRPr>
          </a:p>
          <a:p>
            <a:pPr algn="just">
              <a:lnSpc>
                <a:spcPct val="150000"/>
              </a:lnSpc>
            </a:pPr>
            <a:r>
              <a:rPr lang="en-US" b="1" i="0" dirty="0">
                <a:effectLst/>
                <a:latin typeface="+mj-lt"/>
              </a:rPr>
              <a:t>React Native Framework &amp; Dashboard Design:</a:t>
            </a:r>
            <a:endParaRPr lang="en-US" b="0" i="0" dirty="0">
              <a:effectLst/>
              <a:latin typeface="+mj-lt"/>
            </a:endParaRPr>
          </a:p>
          <a:p>
            <a:pPr marL="742950" lvl="1" indent="-285750" algn="just">
              <a:lnSpc>
                <a:spcPct val="150000"/>
              </a:lnSpc>
            </a:pPr>
            <a:r>
              <a:rPr lang="en-US" b="0" i="0" dirty="0">
                <a:solidFill>
                  <a:schemeClr val="tx1"/>
                </a:solidFill>
                <a:effectLst/>
                <a:latin typeface="+mj-lt"/>
              </a:rPr>
              <a:t>Initialized the Expo project and configured the navigation container for all roles.</a:t>
            </a:r>
          </a:p>
          <a:p>
            <a:pPr marL="742950" lvl="1" indent="-285750" algn="just">
              <a:lnSpc>
                <a:spcPct val="150000"/>
              </a:lnSpc>
            </a:pPr>
            <a:r>
              <a:rPr lang="en-US" b="0" i="0" dirty="0">
                <a:solidFill>
                  <a:schemeClr val="tx1"/>
                </a:solidFill>
                <a:effectLst/>
                <a:latin typeface="+mj-lt"/>
              </a:rPr>
              <a:t>Designed high-fidelity Admin dashboards with interactive production charts.</a:t>
            </a:r>
          </a:p>
          <a:p>
            <a:pPr marL="742950" lvl="1" indent="-285750" algn="just">
              <a:lnSpc>
                <a:spcPct val="150000"/>
              </a:lnSpc>
            </a:pPr>
            <a:r>
              <a:rPr lang="en-US" b="0" i="0" dirty="0">
                <a:solidFill>
                  <a:schemeClr val="tx1"/>
                </a:solidFill>
                <a:effectLst/>
                <a:latin typeface="+mj-lt"/>
              </a:rPr>
              <a:t>Implemented a global styling system using the React Native Paper component library.</a:t>
            </a:r>
          </a:p>
          <a:p>
            <a:pPr marL="114300" indent="0" algn="just">
              <a:lnSpc>
                <a:spcPct val="150000"/>
              </a:lnSpc>
              <a:spcAft>
                <a:spcPts val="1000"/>
              </a:spcAft>
              <a:buNone/>
            </a:pPr>
            <a:endParaRPr dirty="0">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Weekly Diary – Week 5 (Jan 29-Feb 4)</a:t>
            </a:r>
          </a:p>
        </p:txBody>
      </p:sp>
      <p:pic>
        <p:nvPicPr>
          <p:cNvPr id="6" name="Picture 5">
            <a:extLst>
              <a:ext uri="{FF2B5EF4-FFF2-40B4-BE49-F238E27FC236}">
                <a16:creationId xmlns:a16="http://schemas.microsoft.com/office/drawing/2014/main" id="{9B9C91A4-207F-F3CE-D244-3A0625E1190C}"/>
              </a:ext>
            </a:extLst>
          </p:cNvPr>
          <p:cNvPicPr>
            <a:picLocks noChangeAspect="1"/>
          </p:cNvPicPr>
          <p:nvPr/>
        </p:nvPicPr>
        <p:blipFill>
          <a:blip r:embed="rId2"/>
          <a:stretch>
            <a:fillRect/>
          </a:stretch>
        </p:blipFill>
        <p:spPr>
          <a:xfrm>
            <a:off x="706244" y="1628078"/>
            <a:ext cx="4439012" cy="2496944"/>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AB7498A4-3800-52C8-8BF1-0595718CC927}"/>
              </a:ext>
            </a:extLst>
          </p:cNvPr>
          <p:cNvPicPr>
            <a:picLocks noChangeAspect="1"/>
          </p:cNvPicPr>
          <p:nvPr/>
        </p:nvPicPr>
        <p:blipFill>
          <a:blip r:embed="rId3"/>
          <a:stretch>
            <a:fillRect/>
          </a:stretch>
        </p:blipFill>
        <p:spPr>
          <a:xfrm>
            <a:off x="5761602" y="985024"/>
            <a:ext cx="1764117" cy="3783051"/>
          </a:xfrm>
          <a:prstGeom prst="rect">
            <a:avLst/>
          </a:prstGeom>
        </p:spPr>
      </p:pic>
    </p:spTree>
    <p:extLst>
      <p:ext uri="{BB962C8B-B14F-4D97-AF65-F5344CB8AC3E}">
        <p14:creationId xmlns:p14="http://schemas.microsoft.com/office/powerpoint/2010/main" val="394830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6 (Feb 5-11)</a:t>
            </a:r>
          </a:p>
        </p:txBody>
      </p:sp>
      <p:sp>
        <p:nvSpPr>
          <p:cNvPr id="3" name="Text Placeholder 2"/>
          <p:cNvSpPr>
            <a:spLocks noGrp="1"/>
          </p:cNvSpPr>
          <p:nvPr>
            <p:ph type="body" idx="1"/>
          </p:nvPr>
        </p:nvSpPr>
        <p:spPr>
          <a:xfrm>
            <a:off x="311700" y="923874"/>
            <a:ext cx="8520600" cy="3826545"/>
          </a:xfrm>
        </p:spPr>
        <p:txBody>
          <a:bodyPr wrap="square">
            <a:normAutofit/>
          </a:bodyPr>
          <a:lstStyle/>
          <a:p>
            <a:pPr marL="114300" indent="0" algn="just">
              <a:lnSpc>
                <a:spcPct val="150000"/>
              </a:lnSpc>
              <a:buNone/>
            </a:pPr>
            <a:r>
              <a:rPr lang="en-US" b="0" i="0" dirty="0">
                <a:effectLst/>
                <a:latin typeface="+mj-lt"/>
              </a:rPr>
              <a:t>During week six, I developed the most critical part of the floor worker's interface: the production logging portal. I implemented the logic that links daily output to specific B2B orders. I also successfully integrated database triggers that automatically deduct raw materials whenever a worker submits a production log.</a:t>
            </a:r>
          </a:p>
          <a:p>
            <a:pPr marL="114300" indent="0" algn="just">
              <a:lnSpc>
                <a:spcPct val="150000"/>
              </a:lnSpc>
              <a:buNone/>
            </a:pPr>
            <a:endParaRPr lang="en-US" dirty="0">
              <a:latin typeface="+mj-lt"/>
            </a:endParaRPr>
          </a:p>
          <a:p>
            <a:pPr algn="just">
              <a:lnSpc>
                <a:spcPct val="150000"/>
              </a:lnSpc>
            </a:pPr>
            <a:r>
              <a:rPr lang="en-US" b="1" i="0" dirty="0">
                <a:effectLst/>
                <a:latin typeface="+mj-lt"/>
              </a:rPr>
              <a:t>Operational Logic &amp; Sync Implementation:</a:t>
            </a:r>
            <a:endParaRPr lang="en-US" b="0" i="0" dirty="0">
              <a:effectLst/>
              <a:latin typeface="+mj-lt"/>
            </a:endParaRPr>
          </a:p>
          <a:p>
            <a:pPr marL="742950" lvl="1" indent="-285750" algn="just">
              <a:lnSpc>
                <a:spcPct val="150000"/>
              </a:lnSpc>
            </a:pPr>
            <a:r>
              <a:rPr lang="en-US" b="0" i="0" dirty="0">
                <a:solidFill>
                  <a:schemeClr val="tx1"/>
                </a:solidFill>
                <a:effectLst/>
                <a:latin typeface="+mj-lt"/>
              </a:rPr>
              <a:t>Developed the mobile logging form with real-time field validation for quantity entry.</a:t>
            </a:r>
          </a:p>
          <a:p>
            <a:pPr marL="742950" lvl="1" indent="-285750" algn="just">
              <a:lnSpc>
                <a:spcPct val="150000"/>
              </a:lnSpc>
            </a:pPr>
            <a:r>
              <a:rPr lang="en-US" b="0" i="0" dirty="0">
                <a:solidFill>
                  <a:schemeClr val="tx1"/>
                </a:solidFill>
                <a:effectLst/>
                <a:latin typeface="+mj-lt"/>
              </a:rPr>
              <a:t>Engineered the backend triggers for automated, real-time inventory adjustments.</a:t>
            </a:r>
          </a:p>
          <a:p>
            <a:pPr marL="742950" lvl="1" indent="-285750" algn="just">
              <a:lnSpc>
                <a:spcPct val="150000"/>
              </a:lnSpc>
            </a:pPr>
            <a:r>
              <a:rPr lang="en-US" b="0" i="0" dirty="0">
                <a:solidFill>
                  <a:schemeClr val="tx1"/>
                </a:solidFill>
                <a:effectLst/>
                <a:latin typeface="+mj-lt"/>
              </a:rPr>
              <a:t>Conducted cross-platform testing on physical Android devices to ensure connectivity.</a:t>
            </a:r>
          </a:p>
          <a:p>
            <a:pPr marL="114300" indent="0" algn="just">
              <a:lnSpc>
                <a:spcPct val="150000"/>
              </a:lnSpc>
              <a:spcAft>
                <a:spcPts val="1000"/>
              </a:spcAft>
              <a:buNone/>
            </a:pPr>
            <a:endParaRPr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6 (Feb 5-11)</a:t>
            </a:r>
          </a:p>
        </p:txBody>
      </p:sp>
      <p:pic>
        <p:nvPicPr>
          <p:cNvPr id="5" name="Picture 4" descr="A screenshot of a phone&#10;&#10;AI-generated content may be incorrect.">
            <a:extLst>
              <a:ext uri="{FF2B5EF4-FFF2-40B4-BE49-F238E27FC236}">
                <a16:creationId xmlns:a16="http://schemas.microsoft.com/office/drawing/2014/main" id="{FBFB9F74-9497-6694-0D5F-CE2FE069A1C5}"/>
              </a:ext>
            </a:extLst>
          </p:cNvPr>
          <p:cNvPicPr>
            <a:picLocks noChangeAspect="1"/>
          </p:cNvPicPr>
          <p:nvPr/>
        </p:nvPicPr>
        <p:blipFill>
          <a:blip r:embed="rId2"/>
          <a:stretch>
            <a:fillRect/>
          </a:stretch>
        </p:blipFill>
        <p:spPr>
          <a:xfrm>
            <a:off x="1594398" y="1018478"/>
            <a:ext cx="1604648" cy="3441080"/>
          </a:xfrm>
          <a:prstGeom prst="rect">
            <a:avLst/>
          </a:prstGeom>
        </p:spPr>
      </p:pic>
      <p:pic>
        <p:nvPicPr>
          <p:cNvPr id="10" name="Picture 9" descr="A screenshot of a phone&#10;&#10;AI-generated content may be incorrect.">
            <a:extLst>
              <a:ext uri="{FF2B5EF4-FFF2-40B4-BE49-F238E27FC236}">
                <a16:creationId xmlns:a16="http://schemas.microsoft.com/office/drawing/2014/main" id="{C87CD1DD-EE79-1C24-3B6C-3B582A5D303E}"/>
              </a:ext>
            </a:extLst>
          </p:cNvPr>
          <p:cNvPicPr>
            <a:picLocks noChangeAspect="1"/>
          </p:cNvPicPr>
          <p:nvPr/>
        </p:nvPicPr>
        <p:blipFill>
          <a:blip r:embed="rId3"/>
          <a:stretch>
            <a:fillRect/>
          </a:stretch>
        </p:blipFill>
        <p:spPr>
          <a:xfrm>
            <a:off x="5372408" y="1051932"/>
            <a:ext cx="1604648" cy="3441080"/>
          </a:xfrm>
          <a:prstGeom prst="rect">
            <a:avLst/>
          </a:prstGeom>
        </p:spPr>
      </p:pic>
      <p:sp>
        <p:nvSpPr>
          <p:cNvPr id="11" name="Arrow: Right 10">
            <a:extLst>
              <a:ext uri="{FF2B5EF4-FFF2-40B4-BE49-F238E27FC236}">
                <a16:creationId xmlns:a16="http://schemas.microsoft.com/office/drawing/2014/main" id="{B0381E81-27A7-F69E-11D4-AC66643F8F16}"/>
              </a:ext>
            </a:extLst>
          </p:cNvPr>
          <p:cNvSpPr/>
          <p:nvPr/>
        </p:nvSpPr>
        <p:spPr>
          <a:xfrm>
            <a:off x="3412273" y="2096429"/>
            <a:ext cx="1784195" cy="572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Dark Theme</a:t>
            </a:r>
          </a:p>
        </p:txBody>
      </p:sp>
    </p:spTree>
    <p:extLst>
      <p:ext uri="{BB962C8B-B14F-4D97-AF65-F5344CB8AC3E}">
        <p14:creationId xmlns:p14="http://schemas.microsoft.com/office/powerpoint/2010/main" val="1294554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7 (Feb 12-18)</a:t>
            </a:r>
          </a:p>
        </p:txBody>
      </p:sp>
      <p:sp>
        <p:nvSpPr>
          <p:cNvPr id="3" name="Text Placeholder 2"/>
          <p:cNvSpPr>
            <a:spLocks noGrp="1"/>
          </p:cNvSpPr>
          <p:nvPr>
            <p:ph type="body" idx="1"/>
          </p:nvPr>
        </p:nvSpPr>
        <p:spPr>
          <a:xfrm>
            <a:off x="311700" y="923874"/>
            <a:ext cx="8520600" cy="3551481"/>
          </a:xfrm>
        </p:spPr>
        <p:txBody>
          <a:bodyPr wrap="square"/>
          <a:lstStyle/>
          <a:p>
            <a:pPr marL="114300" indent="0" algn="just">
              <a:lnSpc>
                <a:spcPct val="150000"/>
              </a:lnSpc>
              <a:buNone/>
            </a:pPr>
            <a:r>
              <a:rPr lang="en-US" i="0" dirty="0">
                <a:effectLst/>
                <a:latin typeface="+mj-lt"/>
              </a:rPr>
              <a:t>This week was focused on adding intelligence to the platform through predictive analytics. I built a separate microservice using Python and </a:t>
            </a:r>
            <a:r>
              <a:rPr lang="en-US" i="0" dirty="0" err="1">
                <a:effectLst/>
                <a:latin typeface="+mj-lt"/>
              </a:rPr>
              <a:t>FastAPI</a:t>
            </a:r>
            <a:r>
              <a:rPr lang="en-US" i="0" dirty="0">
                <a:effectLst/>
                <a:latin typeface="+mj-lt"/>
              </a:rPr>
              <a:t> to analyze historical production trends. I developed an algorithm that calculates a 7-day moving average to forecast exactly when a specific material might run out. These predictions are then served back to the Admin portal as visual stockout alerts, allowing management to prevent material shortages before they happen.</a:t>
            </a:r>
          </a:p>
          <a:p>
            <a:pPr marL="114300" indent="0" algn="just">
              <a:lnSpc>
                <a:spcPct val="150000"/>
              </a:lnSpc>
              <a:buNone/>
            </a:pPr>
            <a:endParaRPr lang="en-US" dirty="0">
              <a:latin typeface="+mj-lt"/>
            </a:endParaRPr>
          </a:p>
          <a:p>
            <a:pPr algn="just">
              <a:lnSpc>
                <a:spcPct val="150000"/>
              </a:lnSpc>
            </a:pPr>
            <a:r>
              <a:rPr lang="en-US" b="1" i="0" dirty="0">
                <a:effectLst/>
                <a:latin typeface="+mj-lt"/>
              </a:rPr>
              <a:t>Data Intelligence &amp; Forecasting Service:</a:t>
            </a:r>
            <a:endParaRPr lang="en-US" b="0" i="0" dirty="0">
              <a:effectLst/>
              <a:latin typeface="+mj-lt"/>
            </a:endParaRPr>
          </a:p>
          <a:p>
            <a:pPr marL="742950" lvl="1" indent="-285750" algn="just">
              <a:lnSpc>
                <a:spcPct val="150000"/>
              </a:lnSpc>
            </a:pPr>
            <a:r>
              <a:rPr lang="en-US" b="0" i="0" dirty="0">
                <a:solidFill>
                  <a:schemeClr val="tx1"/>
                </a:solidFill>
                <a:effectLst/>
                <a:latin typeface="+mj-lt"/>
              </a:rPr>
              <a:t>Developed a Python </a:t>
            </a:r>
            <a:r>
              <a:rPr lang="en-US" b="0" i="0" dirty="0" err="1">
                <a:solidFill>
                  <a:schemeClr val="tx1"/>
                </a:solidFill>
                <a:effectLst/>
                <a:latin typeface="+mj-lt"/>
              </a:rPr>
              <a:t>FastAPI</a:t>
            </a:r>
            <a:r>
              <a:rPr lang="en-US" b="0" i="0" dirty="0">
                <a:solidFill>
                  <a:schemeClr val="tx1"/>
                </a:solidFill>
                <a:effectLst/>
                <a:latin typeface="+mj-lt"/>
              </a:rPr>
              <a:t> service layer for complex stockout forecasting.</a:t>
            </a:r>
          </a:p>
          <a:p>
            <a:pPr marL="742950" lvl="1" indent="-285750" algn="just">
              <a:lnSpc>
                <a:spcPct val="150000"/>
              </a:lnSpc>
            </a:pPr>
            <a:r>
              <a:rPr lang="en-US" b="0" i="0" dirty="0">
                <a:solidFill>
                  <a:schemeClr val="tx1"/>
                </a:solidFill>
                <a:effectLst/>
                <a:latin typeface="+mj-lt"/>
              </a:rPr>
              <a:t>Implemented a rolling average algorithm to track daily material consumption rates.</a:t>
            </a:r>
          </a:p>
          <a:p>
            <a:pPr marL="742950" lvl="1" indent="-285750" algn="just">
              <a:lnSpc>
                <a:spcPct val="150000"/>
              </a:lnSpc>
            </a:pPr>
            <a:r>
              <a:rPr lang="en-US" b="0" i="0" dirty="0">
                <a:solidFill>
                  <a:schemeClr val="tx1"/>
                </a:solidFill>
                <a:effectLst/>
                <a:latin typeface="+mj-lt"/>
              </a:rPr>
              <a:t>Integrated visual 'Critical Alert' indicators (Yellow/Red) on the Admin dashboard.</a:t>
            </a:r>
          </a:p>
          <a:p>
            <a:pPr marL="114300" indent="0" algn="just">
              <a:lnSpc>
                <a:spcPct val="150000"/>
              </a:lnSpc>
              <a:buNone/>
            </a:pPr>
            <a:endParaRPr lang="en-US" b="0" i="0" dirty="0">
              <a:effectLst/>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Weekly Diary – Week 7 (Feb 12-18)</a:t>
            </a:r>
          </a:p>
        </p:txBody>
      </p:sp>
      <p:pic>
        <p:nvPicPr>
          <p:cNvPr id="5" name="Picture 4" descr="A screenshot of a phone&#10;&#10;AI-generated content may be incorrect.">
            <a:extLst>
              <a:ext uri="{FF2B5EF4-FFF2-40B4-BE49-F238E27FC236}">
                <a16:creationId xmlns:a16="http://schemas.microsoft.com/office/drawing/2014/main" id="{9BA2FF14-1581-18B4-241B-2E1DAF022482}"/>
              </a:ext>
            </a:extLst>
          </p:cNvPr>
          <p:cNvPicPr>
            <a:picLocks noChangeAspect="1"/>
          </p:cNvPicPr>
          <p:nvPr/>
        </p:nvPicPr>
        <p:blipFill>
          <a:blip r:embed="rId2"/>
          <a:stretch>
            <a:fillRect/>
          </a:stretch>
        </p:blipFill>
        <p:spPr>
          <a:xfrm>
            <a:off x="786618" y="943866"/>
            <a:ext cx="1691316" cy="3626934"/>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B8010E5D-A7E8-BFD8-1295-87CDFCFC00F9}"/>
              </a:ext>
            </a:extLst>
          </p:cNvPr>
          <p:cNvPicPr>
            <a:picLocks noChangeAspect="1"/>
          </p:cNvPicPr>
          <p:nvPr/>
        </p:nvPicPr>
        <p:blipFill>
          <a:blip r:embed="rId3"/>
          <a:stretch>
            <a:fillRect/>
          </a:stretch>
        </p:blipFill>
        <p:spPr>
          <a:xfrm>
            <a:off x="3726341" y="1018204"/>
            <a:ext cx="1691317" cy="3626935"/>
          </a:xfrm>
          <a:prstGeom prst="rect">
            <a:avLst/>
          </a:prstGeom>
        </p:spPr>
      </p:pic>
      <p:pic>
        <p:nvPicPr>
          <p:cNvPr id="11" name="Picture 10" descr="Screens screenshot of a phone&#10;&#10;AI-generated content may be incorrect.">
            <a:extLst>
              <a:ext uri="{FF2B5EF4-FFF2-40B4-BE49-F238E27FC236}">
                <a16:creationId xmlns:a16="http://schemas.microsoft.com/office/drawing/2014/main" id="{312AE83E-EA5F-2602-EB7D-F78949730CF3}"/>
              </a:ext>
            </a:extLst>
          </p:cNvPr>
          <p:cNvPicPr>
            <a:picLocks noChangeAspect="1"/>
          </p:cNvPicPr>
          <p:nvPr/>
        </p:nvPicPr>
        <p:blipFill>
          <a:blip r:embed="rId4"/>
          <a:stretch>
            <a:fillRect/>
          </a:stretch>
        </p:blipFill>
        <p:spPr>
          <a:xfrm>
            <a:off x="6444632" y="943863"/>
            <a:ext cx="1691317" cy="3626935"/>
          </a:xfrm>
          <a:prstGeom prst="rect">
            <a:avLst/>
          </a:prstGeom>
        </p:spPr>
      </p:pic>
      <p:sp>
        <p:nvSpPr>
          <p:cNvPr id="12" name="Arrow: Right 11">
            <a:extLst>
              <a:ext uri="{FF2B5EF4-FFF2-40B4-BE49-F238E27FC236}">
                <a16:creationId xmlns:a16="http://schemas.microsoft.com/office/drawing/2014/main" id="{5F3D6E3F-774A-D2BA-62F7-0F5454F6BBED}"/>
              </a:ext>
            </a:extLst>
          </p:cNvPr>
          <p:cNvSpPr/>
          <p:nvPr/>
        </p:nvSpPr>
        <p:spPr>
          <a:xfrm>
            <a:off x="2579649" y="2497873"/>
            <a:ext cx="925259" cy="738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695B783F-9B4F-9450-9065-99B1D34DA935}"/>
              </a:ext>
            </a:extLst>
          </p:cNvPr>
          <p:cNvSpPr/>
          <p:nvPr/>
        </p:nvSpPr>
        <p:spPr>
          <a:xfrm>
            <a:off x="5519373" y="2497872"/>
            <a:ext cx="925259" cy="738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9626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Weekly Diary – Week 8 (Feb 19)</a:t>
            </a:r>
          </a:p>
        </p:txBody>
      </p:sp>
      <p:sp>
        <p:nvSpPr>
          <p:cNvPr id="3" name="Text Placeholder 2"/>
          <p:cNvSpPr>
            <a:spLocks noGrp="1"/>
          </p:cNvSpPr>
          <p:nvPr>
            <p:ph type="body" idx="1"/>
          </p:nvPr>
        </p:nvSpPr>
        <p:spPr>
          <a:xfrm>
            <a:off x="311700" y="923875"/>
            <a:ext cx="8520600" cy="3588652"/>
          </a:xfrm>
        </p:spPr>
        <p:txBody>
          <a:bodyPr wrap="square"/>
          <a:lstStyle/>
          <a:p>
            <a:pPr marL="114300" indent="0" algn="just">
              <a:lnSpc>
                <a:spcPct val="150000"/>
              </a:lnSpc>
              <a:buNone/>
            </a:pPr>
            <a:r>
              <a:rPr lang="en-US" b="0" i="0" dirty="0">
                <a:effectLst/>
                <a:latin typeface="+mj-lt"/>
              </a:rPr>
              <a:t>In the final week, I focused on final system polishing and comprehensive reporting. I integrated the buyer-side tracking features, including real-time progress bars that show buyers exactly how much of their order is completed. I also refactored the mobile codebase to improve app performance by moving high-intensity styles into external TypeScript modules. Finally, I concluded the phase by generating a detailed system inspection report and finalizing all technical documentation.</a:t>
            </a:r>
          </a:p>
          <a:p>
            <a:pPr marL="114300" indent="0" algn="just">
              <a:lnSpc>
                <a:spcPct val="150000"/>
              </a:lnSpc>
              <a:buNone/>
            </a:pPr>
            <a:endParaRPr lang="en-US" dirty="0">
              <a:latin typeface="+mj-lt"/>
            </a:endParaRPr>
          </a:p>
          <a:p>
            <a:pPr algn="just">
              <a:lnSpc>
                <a:spcPct val="150000"/>
              </a:lnSpc>
            </a:pPr>
            <a:r>
              <a:rPr lang="en-US" b="1" i="0" dirty="0">
                <a:effectLst/>
                <a:latin typeface="+mj-lt"/>
              </a:rPr>
              <a:t>Buyer Transparency &amp; Progress Tracking:</a:t>
            </a:r>
            <a:endParaRPr lang="en-US" b="0" i="0" dirty="0">
              <a:effectLst/>
              <a:latin typeface="+mj-lt"/>
            </a:endParaRPr>
          </a:p>
          <a:p>
            <a:pPr marL="742950" lvl="1" indent="-285750" algn="just">
              <a:lnSpc>
                <a:spcPct val="150000"/>
              </a:lnSpc>
            </a:pPr>
            <a:r>
              <a:rPr lang="en-US" b="0" i="0" dirty="0">
                <a:solidFill>
                  <a:schemeClr val="tx1"/>
                </a:solidFill>
                <a:effectLst/>
                <a:latin typeface="+mj-lt"/>
              </a:rPr>
              <a:t>Designed and implemented real-time fulfillment progress indicators for B2B clients.</a:t>
            </a:r>
          </a:p>
          <a:p>
            <a:pPr marL="742950" lvl="1" indent="-285750" algn="just">
              <a:lnSpc>
                <a:spcPct val="150000"/>
              </a:lnSpc>
            </a:pPr>
            <a:r>
              <a:rPr lang="en-US" b="0" i="0" dirty="0">
                <a:solidFill>
                  <a:schemeClr val="tx1"/>
                </a:solidFill>
                <a:effectLst/>
                <a:latin typeface="+mj-lt"/>
              </a:rPr>
              <a:t>Performed system-wide style refactoring to enhance mobile responsiveness and speed.</a:t>
            </a:r>
          </a:p>
          <a:p>
            <a:pPr marL="742950" lvl="1" indent="-285750" algn="just">
              <a:lnSpc>
                <a:spcPct val="150000"/>
              </a:lnSpc>
            </a:pPr>
            <a:r>
              <a:rPr lang="en-US" b="0" i="0" dirty="0">
                <a:solidFill>
                  <a:schemeClr val="tx1"/>
                </a:solidFill>
                <a:effectLst/>
                <a:latin typeface="+mj-lt"/>
              </a:rPr>
              <a:t>Documented system architecture and prepared finalized reports for the technical review.</a:t>
            </a:r>
          </a:p>
          <a:p>
            <a:pPr marL="114300" indent="0" algn="just">
              <a:lnSpc>
                <a:spcPct val="150000"/>
              </a:lnSpc>
              <a:buNone/>
            </a:pPr>
            <a:endParaRPr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Documents</a:t>
            </a:r>
          </a:p>
        </p:txBody>
      </p:sp>
      <p:pic>
        <p:nvPicPr>
          <p:cNvPr id="7" name="Picture 6">
            <a:extLst>
              <a:ext uri="{FF2B5EF4-FFF2-40B4-BE49-F238E27FC236}">
                <a16:creationId xmlns:a16="http://schemas.microsoft.com/office/drawing/2014/main" id="{E57BF7FD-C1DA-633A-03B5-3ED51660DCE2}"/>
              </a:ext>
            </a:extLst>
          </p:cNvPr>
          <p:cNvPicPr>
            <a:picLocks noChangeAspect="1"/>
          </p:cNvPicPr>
          <p:nvPr/>
        </p:nvPicPr>
        <p:blipFill>
          <a:blip r:embed="rId2"/>
          <a:stretch>
            <a:fillRect/>
          </a:stretch>
        </p:blipFill>
        <p:spPr>
          <a:xfrm>
            <a:off x="562003" y="943178"/>
            <a:ext cx="3067797" cy="4200322"/>
          </a:xfrm>
          <a:prstGeom prst="rect">
            <a:avLst/>
          </a:prstGeom>
        </p:spPr>
      </p:pic>
      <p:pic>
        <p:nvPicPr>
          <p:cNvPr id="11" name="Picture 10">
            <a:extLst>
              <a:ext uri="{FF2B5EF4-FFF2-40B4-BE49-F238E27FC236}">
                <a16:creationId xmlns:a16="http://schemas.microsoft.com/office/drawing/2014/main" id="{25BBADB3-86A5-0D72-E17E-37A5DE6D62A6}"/>
              </a:ext>
            </a:extLst>
          </p:cNvPr>
          <p:cNvPicPr>
            <a:picLocks noChangeAspect="1"/>
          </p:cNvPicPr>
          <p:nvPr/>
        </p:nvPicPr>
        <p:blipFill>
          <a:blip r:embed="rId3"/>
          <a:stretch>
            <a:fillRect/>
          </a:stretch>
        </p:blipFill>
        <p:spPr>
          <a:xfrm>
            <a:off x="4163988" y="1071353"/>
            <a:ext cx="4504228" cy="300079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BAD5488-67CC-B81C-D83D-B18130CD2368}"/>
            </a:ext>
          </a:extLst>
        </p:cNvPr>
        <p:cNvGrpSpPr/>
        <p:nvPr/>
      </p:nvGrpSpPr>
      <p:grpSpPr>
        <a:xfrm>
          <a:off x="0" y="0"/>
          <a:ext cx="0" cy="0"/>
          <a:chOff x="0" y="0"/>
          <a:chExt cx="0" cy="0"/>
        </a:xfrm>
      </p:grpSpPr>
      <p:sp>
        <p:nvSpPr>
          <p:cNvPr id="37" name="Google Shape;37;p5">
            <a:extLst>
              <a:ext uri="{FF2B5EF4-FFF2-40B4-BE49-F238E27FC236}">
                <a16:creationId xmlns:a16="http://schemas.microsoft.com/office/drawing/2014/main" id="{5FDB9604-D0E2-9024-DF93-AD0A78E41217}"/>
              </a:ext>
            </a:extLst>
          </p:cNvPr>
          <p:cNvSpPr txBox="1">
            <a:spLocks noGrp="1"/>
          </p:cNvSpPr>
          <p:nvPr>
            <p:ph type="body" idx="1"/>
          </p:nvPr>
        </p:nvSpPr>
        <p:spPr>
          <a:xfrm>
            <a:off x="311700" y="923875"/>
            <a:ext cx="8520600" cy="3796808"/>
          </a:xfrm>
          <a:prstGeom prst="rect">
            <a:avLst/>
          </a:prstGeom>
          <a:noFill/>
          <a:ln>
            <a:noFill/>
          </a:ln>
        </p:spPr>
        <p:txBody>
          <a:bodyPr spcFirstLastPara="1" wrap="square" lIns="91425" tIns="91425" rIns="91425" bIns="91425" anchor="ctr" anchorCtr="0">
            <a:normAutofit/>
          </a:bodyPr>
          <a:lstStyle/>
          <a:p>
            <a:pPr marL="114300" indent="0" algn="ctr">
              <a:buNone/>
            </a:pPr>
            <a:r>
              <a:rPr lang="en-US" sz="5000" dirty="0">
                <a:solidFill>
                  <a:schemeClr val="accent1"/>
                </a:solidFill>
                <a:latin typeface="+mj-lt"/>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180639208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TotalTime>
  <Words>1670</Words>
  <Application>Microsoft Office PowerPoint</Application>
  <PresentationFormat>On-screen Show (16:9)</PresentationFormat>
  <Paragraphs>151</Paragraphs>
  <Slides>23</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Book Antiqua</vt:lpstr>
      <vt:lpstr>Arial</vt:lpstr>
      <vt:lpstr>Calibri</vt:lpstr>
      <vt:lpstr>Simple Light</vt:lpstr>
      <vt:lpstr>Navyug Vidyabhavan Trust C. K. Pithawala College of Engg. &amp; Tech.</vt:lpstr>
      <vt:lpstr>Outline</vt:lpstr>
      <vt:lpstr>Company Brief</vt:lpstr>
      <vt:lpstr>Company Brief</vt:lpstr>
      <vt:lpstr>Domain and Technology Stack</vt:lpstr>
      <vt:lpstr>Work Profile</vt:lpstr>
      <vt:lpstr>Type of Engagement</vt:lpstr>
      <vt:lpstr>Weekly Diary – Week 1 (Jan 1-7)</vt:lpstr>
      <vt:lpstr>Weekly Diary – Week 2 (Jan 8-14)</vt:lpstr>
      <vt:lpstr>Weekly Diary – Week 2 (Jan 8-14)</vt:lpstr>
      <vt:lpstr>Weekly Diary – Week 3 (Jan 15 - 21)</vt:lpstr>
      <vt:lpstr>Weekly Diary – Week 3 (Jan 15 - 21)</vt:lpstr>
      <vt:lpstr>Weekly Diary – Week 4 (Jan 22-28)</vt:lpstr>
      <vt:lpstr>Weekly Diary – Week 4 (Jan 22-28)</vt:lpstr>
      <vt:lpstr>Weekly Diary – Week 5 (Jan 29-Feb 4)</vt:lpstr>
      <vt:lpstr>Weekly Diary – Week 5 (Jan 29-Feb 4)</vt:lpstr>
      <vt:lpstr>Weekly Diary – Week 6 (Feb 5-11)</vt:lpstr>
      <vt:lpstr>Weekly Diary – Week 6 (Feb 5-11)</vt:lpstr>
      <vt:lpstr>Weekly Diary – Week 7 (Feb 12-18)</vt:lpstr>
      <vt:lpstr>Weekly Diary – Week 7 (Feb 12-18)</vt:lpstr>
      <vt:lpstr>Weekly Diary – Week 8 (Feb 19)</vt:lpstr>
      <vt:lpstr>Documents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Sanju DM</cp:lastModifiedBy>
  <cp:revision>14</cp:revision>
  <dcterms:modified xsi:type="dcterms:W3CDTF">2026-02-23T10:11:38Z</dcterms:modified>
</cp:coreProperties>
</file>